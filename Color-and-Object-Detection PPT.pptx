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70" r:id="rId2"/>
    <p:sldId id="271" r:id="rId3"/>
    <p:sldId id="272" r:id="rId4"/>
    <p:sldId id="273" r:id="rId5"/>
    <p:sldId id="274" r:id="rId6"/>
    <p:sldId id="275" r:id="rId7"/>
    <p:sldId id="276" r:id="rId8"/>
    <p:sldId id="277" r:id="rId9"/>
    <p:sldId id="278" r:id="rId10"/>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564" y="-84"/>
      </p:cViewPr>
      <p:guideLst>
        <p:guide orient="horz" pos="2592"/>
        <p:guide pos="460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960" y="6949440"/>
            <a:ext cx="6583680" cy="6583680"/>
          </a:xfrm>
          <a:prstGeom prst="rect">
            <a:avLst/>
          </a:prstGeom>
        </p:spPr>
        <p:txBody>
          <a:bodyPr/>
          <a:lstStyle/>
          <a:p>
            <a:endParaRPr lang="en-IN"/>
          </a:p>
        </p:txBody>
      </p:sp>
      <p:sp>
        <p:nvSpPr>
          <p:cNvPr id="4" name="Slide Number Placeholder 3"/>
          <p:cNvSpPr>
            <a:spLocks noGrp="1"/>
          </p:cNvSpPr>
          <p:nvPr>
            <p:ph type="sldNum" sz="quarter" idx="10"/>
          </p:nvPr>
        </p:nvSpPr>
        <p:spPr>
          <a:xfrm>
            <a:off x="4661297" y="13895494"/>
            <a:ext cx="3566160" cy="731520"/>
          </a:xfrm>
          <a:prstGeom prst="rect">
            <a:avLst/>
          </a:prstGeom>
        </p:spPr>
        <p:txBody>
          <a:bodyPr/>
          <a:lstStyle/>
          <a:p>
            <a:fld id="{494DC7C4-6DE8-42F5-AE2A-432CAB54C554}" type="slidenum">
              <a:rPr lang="en-IN" smtClean="0"/>
              <a:pPr/>
              <a:t>1</a:t>
            </a:fld>
            <a:endParaRPr lang="en-IN"/>
          </a:p>
        </p:txBody>
      </p:sp>
    </p:spTree>
    <p:extLst>
      <p:ext uri="{BB962C8B-B14F-4D97-AF65-F5344CB8AC3E}">
        <p14:creationId xmlns="" xmlns:p14="http://schemas.microsoft.com/office/powerpoint/2010/main" val="1441478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05840" y="7627621"/>
            <a:ext cx="3291840" cy="438150"/>
          </a:xfrm>
          <a:prstGeom prst="rect">
            <a:avLst/>
          </a:prstGeom>
        </p:spPr>
        <p:txBody>
          <a:bodyPr lIns="109728" tIns="54864" rIns="109728" bIns="54864"/>
          <a:lstStyle/>
          <a:p>
            <a:fld id="{97A81DE8-36EC-4DE3-8F35-7D7B32C2E03F}" type="datetime1">
              <a:rPr lang="en-US" smtClean="0"/>
              <a:pPr/>
              <a:t>2/11/2025</a:t>
            </a:fld>
            <a:endParaRPr lang="en-US"/>
          </a:p>
        </p:txBody>
      </p:sp>
      <p:sp>
        <p:nvSpPr>
          <p:cNvPr id="3" name="Footer Placeholder 2"/>
          <p:cNvSpPr>
            <a:spLocks noGrp="1"/>
          </p:cNvSpPr>
          <p:nvPr>
            <p:ph type="ftr" sz="quarter" idx="11"/>
          </p:nvPr>
        </p:nvSpPr>
        <p:spPr>
          <a:xfrm>
            <a:off x="4846320" y="7627621"/>
            <a:ext cx="4937760" cy="438150"/>
          </a:xfrm>
          <a:prstGeom prst="rect">
            <a:avLst/>
          </a:prstGeom>
        </p:spPr>
        <p:txBody>
          <a:bodyPr lIns="109728" tIns="54864" rIns="109728" bIns="54864"/>
          <a:lstStyle/>
          <a:p>
            <a:endParaRPr lang="en-IN"/>
          </a:p>
        </p:txBody>
      </p:sp>
      <p:sp>
        <p:nvSpPr>
          <p:cNvPr id="4" name="Slide Number Placeholder 3"/>
          <p:cNvSpPr>
            <a:spLocks noGrp="1"/>
          </p:cNvSpPr>
          <p:nvPr>
            <p:ph type="sldNum" sz="quarter" idx="12"/>
          </p:nvPr>
        </p:nvSpPr>
        <p:spPr>
          <a:xfrm>
            <a:off x="10332720" y="7627621"/>
            <a:ext cx="3291840" cy="438150"/>
          </a:xfrm>
          <a:prstGeom prst="rect">
            <a:avLst/>
          </a:prstGeom>
        </p:spPr>
        <p:txBody>
          <a:bodyPr lIns="109728" tIns="54864" rIns="109728" bIns="54864"/>
          <a:lstStyle>
            <a:lvl1pPr marL="45720">
              <a:lnSpc>
                <a:spcPts val="1488"/>
              </a:lnSpc>
              <a:defRPr/>
            </a:lvl1pPr>
          </a:lstStyle>
          <a:p>
            <a:fld id="{81D60167-4931-47E6-BA6A-407CBD079E47}" type="slidenum">
              <a:rPr lang="en-IN" smtClean="0"/>
              <a:pPr/>
              <a:t>‹#›</a:t>
            </a:fld>
            <a:endParaRPr lang="en-IN" dirty="0"/>
          </a:p>
        </p:txBody>
      </p:sp>
    </p:spTree>
    <p:extLst>
      <p:ext uri="{BB962C8B-B14F-4D97-AF65-F5344CB8AC3E}">
        <p14:creationId xmlns="" xmlns:p14="http://schemas.microsoft.com/office/powerpoint/2010/main" val="41929214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png"/><Relationship Id="rId12"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image" Target="../media/image5.svg"/><Relationship Id="rId4" Type="http://schemas.openxmlformats.org/officeDocument/2006/relationships/image" Target="../media/image2.pn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0.png"/><Relationship Id="rId10" Type="http://schemas.openxmlformats.org/officeDocument/2006/relationships/image" Target="../media/image11.png"/><Relationship Id="rId4" Type="http://schemas.openxmlformats.org/officeDocument/2006/relationships/image" Target="../media/image17.sv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2.sv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4.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5.png"/><Relationship Id="rId5" Type="http://schemas.openxmlformats.org/officeDocument/2006/relationships/image" Target="../media/image25.svg"/><Relationship Id="rId10" Type="http://schemas.openxmlformats.org/officeDocument/2006/relationships/image" Target="../media/image14.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7.jpeg"/><Relationship Id="rId7" Type="http://schemas.openxmlformats.org/officeDocument/2006/relationships/image" Target="../media/image16.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svg"/><Relationship Id="rId11" Type="http://schemas.openxmlformats.org/officeDocument/2006/relationships/image" Target="../media/image20.jpeg"/><Relationship Id="rId10" Type="http://schemas.openxmlformats.org/officeDocument/2006/relationships/image" Target="../media/image19.jpeg"/><Relationship Id="rId9"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7325484" y="3725763"/>
            <a:ext cx="7454945" cy="539378"/>
          </a:xfrm>
          <a:prstGeom prst="rect">
            <a:avLst/>
          </a:prstGeom>
        </p:spPr>
        <p:txBody>
          <a:bodyPr vert="horz" wrap="square" lIns="0" tIns="16002" rIns="0" bIns="0" rtlCol="0">
            <a:spAutoFit/>
          </a:bodyPr>
          <a:lstStyle/>
          <a:p>
            <a:pPr marL="15240">
              <a:spcBef>
                <a:spcPts val="126"/>
              </a:spcBef>
            </a:pPr>
            <a:endParaRPr sz="3400" dirty="0">
              <a:latin typeface="Calibri"/>
              <a:cs typeface="Calibri"/>
            </a:endParaRPr>
          </a:p>
        </p:txBody>
      </p:sp>
      <p:pic>
        <p:nvPicPr>
          <p:cNvPr id="79" name="Picture 78" descr="C:\Users\MOHIT\Desktop\logo-icon.png"/>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 y="0"/>
            <a:ext cx="2119271" cy="1825099"/>
          </a:xfrm>
          <a:prstGeom prst="rect">
            <a:avLst/>
          </a:prstGeom>
          <a:noFill/>
          <a:ln w="9525">
            <a:noFill/>
            <a:miter lim="800000"/>
            <a:headEnd/>
            <a:tailEnd/>
          </a:ln>
        </p:spPr>
      </p:pic>
      <p:pic>
        <p:nvPicPr>
          <p:cNvPr id="80" name="Picture 79"/>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2344401" y="0"/>
            <a:ext cx="2067610" cy="1837666"/>
          </a:xfrm>
          <a:prstGeom prst="rect">
            <a:avLst/>
          </a:prstGeom>
          <a:ln>
            <a:solidFill>
              <a:schemeClr val="bg1"/>
            </a:solidFill>
          </a:ln>
        </p:spPr>
      </p:pic>
      <p:sp>
        <p:nvSpPr>
          <p:cNvPr id="2" name="object 2"/>
          <p:cNvSpPr txBox="1"/>
          <p:nvPr/>
        </p:nvSpPr>
        <p:spPr>
          <a:xfrm>
            <a:off x="1700083" y="121105"/>
            <a:ext cx="10918637" cy="902555"/>
          </a:xfrm>
          <a:prstGeom prst="rect">
            <a:avLst/>
          </a:prstGeom>
        </p:spPr>
        <p:txBody>
          <a:bodyPr vert="horz" wrap="square" lIns="0" tIns="16002" rIns="0" bIns="0" rtlCol="0">
            <a:spAutoFit/>
          </a:bodyPr>
          <a:lstStyle/>
          <a:p>
            <a:pPr marL="15240" marR="6096" algn="ctr">
              <a:spcBef>
                <a:spcPts val="126"/>
              </a:spcBef>
            </a:pPr>
            <a:r>
              <a:rPr lang="en-IN" sz="5800" b="1" spc="72" dirty="0" smtClean="0">
                <a:solidFill>
                  <a:schemeClr val="accent1">
                    <a:lumMod val="50000"/>
                  </a:schemeClr>
                </a:solidFill>
                <a:latin typeface="Trebuchet MS"/>
                <a:cs typeface="Trebuchet MS"/>
              </a:rPr>
              <a:t>R.D.ENGINEERING COLLEGE</a:t>
            </a:r>
            <a:endParaRPr lang="en-IN" sz="5800" dirty="0">
              <a:solidFill>
                <a:schemeClr val="accent1">
                  <a:lumMod val="50000"/>
                </a:schemeClr>
              </a:solidFill>
              <a:latin typeface="Trebuchet MS"/>
              <a:cs typeface="Trebuchet MS"/>
            </a:endParaRPr>
          </a:p>
        </p:txBody>
      </p:sp>
      <p:sp>
        <p:nvSpPr>
          <p:cNvPr id="3" name="TextBox 2"/>
          <p:cNvSpPr txBox="1"/>
          <p:nvPr/>
        </p:nvSpPr>
        <p:spPr>
          <a:xfrm>
            <a:off x="798780" y="1206843"/>
            <a:ext cx="12618720" cy="1440395"/>
          </a:xfrm>
          <a:prstGeom prst="rect">
            <a:avLst/>
          </a:prstGeom>
          <a:noFill/>
        </p:spPr>
        <p:txBody>
          <a:bodyPr wrap="square" lIns="109728" tIns="54864" rIns="109728" bIns="54864" rtlCol="0">
            <a:spAutoFit/>
          </a:bodyPr>
          <a:lstStyle/>
          <a:p>
            <a:pPr algn="ctr"/>
            <a:r>
              <a:rPr lang="en-US" sz="4300" b="1" dirty="0" smtClean="0">
                <a:solidFill>
                  <a:srgbClr val="FF0000"/>
                </a:solidFill>
              </a:rPr>
              <a:t>DEPARTMENT OF COMPUTER SCIENCE &amp; ENGINEERING (CSE &amp; ALLIED)</a:t>
            </a:r>
            <a:endParaRPr lang="en-IN" sz="4300" b="1" dirty="0">
              <a:solidFill>
                <a:srgbClr val="FF0000"/>
              </a:solidFill>
            </a:endParaRPr>
          </a:p>
        </p:txBody>
      </p:sp>
      <p:sp>
        <p:nvSpPr>
          <p:cNvPr id="35" name="TextBox 34"/>
          <p:cNvSpPr txBox="1"/>
          <p:nvPr/>
        </p:nvSpPr>
        <p:spPr>
          <a:xfrm>
            <a:off x="2603714" y="5012883"/>
            <a:ext cx="10509808" cy="849463"/>
          </a:xfrm>
          <a:prstGeom prst="rect">
            <a:avLst/>
          </a:prstGeom>
          <a:noFill/>
        </p:spPr>
        <p:txBody>
          <a:bodyPr wrap="square" lIns="109728" tIns="54864" rIns="109728" bIns="54864" rtlCol="0">
            <a:spAutoFit/>
          </a:bodyPr>
          <a:lstStyle/>
          <a:p>
            <a:r>
              <a:rPr lang="en-US" sz="2400" b="1" dirty="0" smtClean="0"/>
              <a:t>GROUP </a:t>
            </a:r>
            <a:r>
              <a:rPr lang="en-US" sz="2400" b="1" dirty="0"/>
              <a:t>No. :- </a:t>
            </a:r>
            <a:r>
              <a:rPr lang="en-US" sz="2400" b="1" dirty="0" smtClean="0"/>
              <a:t>	RD24CSE702		 GUIDE NAME:-  Mr. </a:t>
            </a:r>
            <a:r>
              <a:rPr lang="en-US" sz="2400" b="1" dirty="0" err="1" smtClean="0"/>
              <a:t>Lav</a:t>
            </a:r>
            <a:r>
              <a:rPr lang="en-US" sz="2400" b="1" dirty="0" smtClean="0"/>
              <a:t> Dixit sir 							</a:t>
            </a:r>
            <a:endParaRPr lang="en-IN" sz="2400" b="1" dirty="0"/>
          </a:p>
        </p:txBody>
      </p:sp>
      <p:sp>
        <p:nvSpPr>
          <p:cNvPr id="36" name="TextBox 35"/>
          <p:cNvSpPr txBox="1"/>
          <p:nvPr/>
        </p:nvSpPr>
        <p:spPr>
          <a:xfrm>
            <a:off x="895762" y="5862346"/>
            <a:ext cx="12527280" cy="2696123"/>
          </a:xfrm>
          <a:prstGeom prst="rect">
            <a:avLst/>
          </a:prstGeom>
          <a:noFill/>
        </p:spPr>
        <p:txBody>
          <a:bodyPr wrap="square" lIns="109728" tIns="54864" rIns="109728" bIns="54864" rtlCol="0">
            <a:spAutoFit/>
          </a:bodyPr>
          <a:lstStyle/>
          <a:p>
            <a:r>
              <a:rPr lang="en-US" sz="2400" b="1" dirty="0" smtClean="0"/>
              <a:t>		PROJECT GROUP DETAILS:- 				</a:t>
            </a:r>
          </a:p>
          <a:p>
            <a:r>
              <a:rPr lang="en-US" sz="2400" b="1" dirty="0"/>
              <a:t>	</a:t>
            </a:r>
            <a:r>
              <a:rPr lang="en-US" sz="2400" b="1" dirty="0" smtClean="0"/>
              <a:t>	       HARSH TYAGI					             (2102311530027)</a:t>
            </a:r>
          </a:p>
          <a:p>
            <a:r>
              <a:rPr lang="en-US" sz="2400" b="1" dirty="0"/>
              <a:t>	</a:t>
            </a:r>
            <a:r>
              <a:rPr lang="en-US" sz="2400" b="1" dirty="0" smtClean="0"/>
              <a:t>	       YASH TYAGI                         				             (2102311530059)</a:t>
            </a:r>
          </a:p>
          <a:p>
            <a:r>
              <a:rPr lang="en-US" sz="2400" b="1" dirty="0"/>
              <a:t>	</a:t>
            </a:r>
            <a:r>
              <a:rPr lang="en-US" sz="2400" b="1" dirty="0" smtClean="0"/>
              <a:t>	       VARSHA						             (2102311530056)  </a:t>
            </a:r>
          </a:p>
          <a:p>
            <a:r>
              <a:rPr lang="en-US" sz="2400" b="1" dirty="0"/>
              <a:t>	</a:t>
            </a:r>
            <a:r>
              <a:rPr lang="en-US" sz="2400" b="1" dirty="0" smtClean="0"/>
              <a:t>	       SAKSHI  BHARDWAJ</a:t>
            </a:r>
            <a:r>
              <a:rPr lang="en-US" sz="2400" b="1" dirty="0"/>
              <a:t>		</a:t>
            </a:r>
            <a:r>
              <a:rPr lang="en-US" sz="2400" b="1" dirty="0" smtClean="0"/>
              <a:t>		             (2102311530045)</a:t>
            </a:r>
            <a:endParaRPr lang="en-US" sz="2400" b="1" dirty="0"/>
          </a:p>
          <a:p>
            <a:endParaRPr lang="en-US" sz="2400" b="1" dirty="0"/>
          </a:p>
          <a:p>
            <a:endParaRPr lang="en-IN" sz="2400" b="1" dirty="0"/>
          </a:p>
        </p:txBody>
      </p:sp>
      <p:sp>
        <p:nvSpPr>
          <p:cNvPr id="37" name="TextBox 36"/>
          <p:cNvSpPr txBox="1"/>
          <p:nvPr/>
        </p:nvSpPr>
        <p:spPr>
          <a:xfrm>
            <a:off x="798780" y="2620602"/>
            <a:ext cx="12527280" cy="775597"/>
          </a:xfrm>
          <a:prstGeom prst="rect">
            <a:avLst/>
          </a:prstGeom>
          <a:noFill/>
        </p:spPr>
        <p:txBody>
          <a:bodyPr wrap="square" lIns="109728" tIns="54864" rIns="109728" bIns="54864" rtlCol="0">
            <a:spAutoFit/>
          </a:bodyPr>
          <a:lstStyle/>
          <a:p>
            <a:pPr algn="ctr"/>
            <a:r>
              <a:rPr lang="en-US" sz="4300" b="1" dirty="0" smtClean="0">
                <a:solidFill>
                  <a:srgbClr val="002060"/>
                </a:solidFill>
              </a:rPr>
              <a:t>PROJECT PRESENTATION</a:t>
            </a:r>
            <a:endParaRPr lang="en-IN" sz="4300" b="1" dirty="0">
              <a:solidFill>
                <a:srgbClr val="002060"/>
              </a:solidFill>
            </a:endParaRPr>
          </a:p>
        </p:txBody>
      </p:sp>
      <p:sp>
        <p:nvSpPr>
          <p:cNvPr id="38" name="TextBox 37"/>
          <p:cNvSpPr txBox="1"/>
          <p:nvPr/>
        </p:nvSpPr>
        <p:spPr>
          <a:xfrm>
            <a:off x="325465" y="3632661"/>
            <a:ext cx="14086546" cy="787908"/>
          </a:xfrm>
          <a:prstGeom prst="rect">
            <a:avLst/>
          </a:prstGeom>
          <a:noFill/>
        </p:spPr>
        <p:txBody>
          <a:bodyPr wrap="square" lIns="109728" tIns="54864" rIns="109728" bIns="54864" rtlCol="0">
            <a:spAutoFit/>
          </a:bodyPr>
          <a:lstStyle/>
          <a:p>
            <a:pPr algn="ctr"/>
            <a:r>
              <a:rPr lang="en-US" sz="4400" b="1" dirty="0" smtClean="0">
                <a:solidFill>
                  <a:srgbClr val="F94CAF"/>
                </a:solidFill>
                <a:latin typeface="Inconsolata" pitchFamily="34" charset="0"/>
                <a:ea typeface="Inconsolata" pitchFamily="34" charset="-122"/>
                <a:cs typeface="Inconsolata" pitchFamily="34" charset="-120"/>
              </a:rPr>
              <a:t>Title: Color and Object Detection System </a:t>
            </a:r>
            <a:endParaRPr lang="en-IN" sz="4300" b="1" dirty="0">
              <a:solidFill>
                <a:schemeClr val="tx2">
                  <a:lumMod val="60000"/>
                  <a:lumOff val="40000"/>
                </a:schemeClr>
              </a:solidFill>
            </a:endParaRPr>
          </a:p>
        </p:txBody>
      </p:sp>
      <p:sp>
        <p:nvSpPr>
          <p:cNvPr id="12" name="Freeform 12"/>
          <p:cNvSpPr/>
          <p:nvPr/>
        </p:nvSpPr>
        <p:spPr>
          <a:xfrm>
            <a:off x="218149" y="4833205"/>
            <a:ext cx="2787361" cy="3328192"/>
          </a:xfrm>
          <a:custGeom>
            <a:avLst/>
            <a:gdLst/>
            <a:ahLst/>
            <a:cxnLst/>
            <a:rect l="l" t="t" r="r" b="b"/>
            <a:pathLst>
              <a:path w="2787361" h="3328192">
                <a:moveTo>
                  <a:pt x="0" y="0"/>
                </a:moveTo>
                <a:lnTo>
                  <a:pt x="2787360" y="0"/>
                </a:lnTo>
                <a:lnTo>
                  <a:pt x="2787360" y="3328192"/>
                </a:lnTo>
                <a:lnTo>
                  <a:pt x="0" y="3328192"/>
                </a:lnTo>
                <a:lnTo>
                  <a:pt x="0" y="0"/>
                </a:lnTo>
                <a:close/>
              </a:path>
            </a:pathLst>
          </a:custGeom>
          <a:blipFill>
            <a:blip r:embed="rId5"/>
            <a:stretch>
              <a:fillRect/>
            </a:stretch>
          </a:blipFill>
        </p:spPr>
        <p:txBody>
          <a:bodyPr/>
          <a:lstStyle/>
          <a:p>
            <a:endParaRPr lang="en-IN" dirty="0"/>
          </a:p>
        </p:txBody>
      </p:sp>
      <p:sp>
        <p:nvSpPr>
          <p:cNvPr id="13" name="Freeform 7"/>
          <p:cNvSpPr/>
          <p:nvPr/>
        </p:nvSpPr>
        <p:spPr>
          <a:xfrm>
            <a:off x="12453297" y="1861379"/>
            <a:ext cx="2177103" cy="4114800"/>
          </a:xfrm>
          <a:custGeom>
            <a:avLst/>
            <a:gdLst/>
            <a:ahLst/>
            <a:cxnLst/>
            <a:rect l="l" t="t" r="r" b="b"/>
            <a:pathLst>
              <a:path w="2177103" h="4114800">
                <a:moveTo>
                  <a:pt x="0" y="0"/>
                </a:moveTo>
                <a:lnTo>
                  <a:pt x="2177104" y="0"/>
                </a:lnTo>
                <a:lnTo>
                  <a:pt x="2177104" y="4114800"/>
                </a:lnTo>
                <a:lnTo>
                  <a:pt x="0" y="4114800"/>
                </a:lnTo>
                <a:lnTo>
                  <a:pt x="0" y="0"/>
                </a:lnTo>
                <a:close/>
              </a:path>
            </a:pathLst>
          </a:custGeom>
          <a:blipFill>
            <a:blip r:embed="rId6">
              <a:extLst>
                <a:ext uri="{96DAC541-7B7A-43D3-8B79-37D633B846F1}">
                  <asvg:svgBlip xmlns="" xmlns:asvg="http://schemas.microsoft.com/office/drawing/2016/SVG/main" r:embed="rId8"/>
                </a:ext>
              </a:extLst>
            </a:blip>
            <a:stretch>
              <a:fillRect/>
            </a:stretch>
          </a:blipFill>
        </p:spPr>
      </p:sp>
      <p:sp>
        <p:nvSpPr>
          <p:cNvPr id="15" name="Freeform 6"/>
          <p:cNvSpPr/>
          <p:nvPr/>
        </p:nvSpPr>
        <p:spPr>
          <a:xfrm>
            <a:off x="7615888" y="0"/>
            <a:ext cx="4920037" cy="1672813"/>
          </a:xfrm>
          <a:custGeom>
            <a:avLst/>
            <a:gdLst/>
            <a:ahLst/>
            <a:cxnLst/>
            <a:rect l="l" t="t" r="r" b="b"/>
            <a:pathLst>
              <a:path w="4920037" h="1672813">
                <a:moveTo>
                  <a:pt x="0" y="0"/>
                </a:moveTo>
                <a:lnTo>
                  <a:pt x="4920037" y="0"/>
                </a:lnTo>
                <a:lnTo>
                  <a:pt x="4920037" y="1672813"/>
                </a:lnTo>
                <a:lnTo>
                  <a:pt x="0" y="1672813"/>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16" name="Freeform 4"/>
          <p:cNvSpPr/>
          <p:nvPr/>
        </p:nvSpPr>
        <p:spPr>
          <a:xfrm>
            <a:off x="12214065" y="5848954"/>
            <a:ext cx="2417953" cy="2312443"/>
          </a:xfrm>
          <a:custGeom>
            <a:avLst/>
            <a:gdLst/>
            <a:ahLst/>
            <a:cxnLst/>
            <a:rect l="l" t="t" r="r" b="b"/>
            <a:pathLst>
              <a:path w="2417953" h="2312443">
                <a:moveTo>
                  <a:pt x="0" y="0"/>
                </a:moveTo>
                <a:lnTo>
                  <a:pt x="2417953" y="0"/>
                </a:lnTo>
                <a:lnTo>
                  <a:pt x="2417953" y="2312442"/>
                </a:lnTo>
                <a:lnTo>
                  <a:pt x="0" y="2312442"/>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sp>
    </p:spTree>
  </p:cSld>
  <p:clrMapOvr>
    <a:masterClrMapping/>
  </p:clrMapOvr>
  <p:transition spd="slow">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E3B99F-1CFA-CC9B-05A2-83A81B7F227D}"/>
            </a:ext>
          </a:extLst>
        </p:cNvPr>
        <p:cNvGrpSpPr/>
        <p:nvPr/>
      </p:nvGrpSpPr>
      <p:grpSpPr>
        <a:xfrm>
          <a:off x="0" y="0"/>
          <a:ext cx="0" cy="0"/>
          <a:chOff x="0" y="0"/>
          <a:chExt cx="0" cy="0"/>
        </a:xfrm>
      </p:grpSpPr>
      <p:sp>
        <p:nvSpPr>
          <p:cNvPr id="10" name="TextBox 10">
            <a:extLst>
              <a:ext uri="{FF2B5EF4-FFF2-40B4-BE49-F238E27FC236}">
                <a16:creationId xmlns="" xmlns:a16="http://schemas.microsoft.com/office/drawing/2014/main" id="{17A86050-4BF6-9332-6A6D-1C4C641CCB73}"/>
              </a:ext>
            </a:extLst>
          </p:cNvPr>
          <p:cNvSpPr txBox="1"/>
          <p:nvPr/>
        </p:nvSpPr>
        <p:spPr>
          <a:xfrm>
            <a:off x="3057210" y="343029"/>
            <a:ext cx="8690606" cy="987450"/>
          </a:xfrm>
          <a:prstGeom prst="rect">
            <a:avLst/>
          </a:prstGeom>
        </p:spPr>
        <p:txBody>
          <a:bodyPr lIns="0" tIns="0" rIns="0" bIns="0" rtlCol="0" anchor="t">
            <a:spAutoFit/>
          </a:bodyPr>
          <a:lstStyle/>
          <a:p>
            <a:pPr algn="ctr">
              <a:lnSpc>
                <a:spcPts val="7680"/>
              </a:lnSpc>
              <a:spcBef>
                <a:spcPct val="0"/>
              </a:spcBef>
            </a:pPr>
            <a:r>
              <a:rPr lang="en-US" sz="5800" u="sng" dirty="0">
                <a:solidFill>
                  <a:srgbClr val="000000"/>
                </a:solidFill>
                <a:latin typeface="Open Sans Bold"/>
                <a:ea typeface="Open Sans Bold"/>
                <a:cs typeface="Open Sans Bold"/>
                <a:sym typeface="Open Sans Bold"/>
              </a:rPr>
              <a:t>PROBLEM STATEMENT</a:t>
            </a:r>
          </a:p>
        </p:txBody>
      </p:sp>
      <p:sp>
        <p:nvSpPr>
          <p:cNvPr id="11" name="Freeform 11">
            <a:extLst>
              <a:ext uri="{FF2B5EF4-FFF2-40B4-BE49-F238E27FC236}">
                <a16:creationId xmlns="" xmlns:a16="http://schemas.microsoft.com/office/drawing/2014/main" id="{CD3676B0-79C9-BECB-9866-FFB8477F220E}"/>
              </a:ext>
            </a:extLst>
          </p:cNvPr>
          <p:cNvSpPr/>
          <p:nvPr/>
        </p:nvSpPr>
        <p:spPr>
          <a:xfrm>
            <a:off x="5050905" y="0"/>
            <a:ext cx="4361319" cy="2725824"/>
          </a:xfrm>
          <a:custGeom>
            <a:avLst/>
            <a:gdLst/>
            <a:ahLst/>
            <a:cxnLst/>
            <a:rect l="l" t="t" r="r" b="b"/>
            <a:pathLst>
              <a:path w="5451649" h="3407280">
                <a:moveTo>
                  <a:pt x="0" y="0"/>
                </a:moveTo>
                <a:lnTo>
                  <a:pt x="5451649" y="0"/>
                </a:lnTo>
                <a:lnTo>
                  <a:pt x="5451649" y="3407280"/>
                </a:lnTo>
                <a:lnTo>
                  <a:pt x="0" y="340728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3" name="TextBox 13">
            <a:extLst>
              <a:ext uri="{FF2B5EF4-FFF2-40B4-BE49-F238E27FC236}">
                <a16:creationId xmlns="" xmlns:a16="http://schemas.microsoft.com/office/drawing/2014/main" id="{B2DF26C0-9265-16D8-CB32-484A93026D57}"/>
              </a:ext>
            </a:extLst>
          </p:cNvPr>
          <p:cNvSpPr txBox="1"/>
          <p:nvPr/>
        </p:nvSpPr>
        <p:spPr>
          <a:xfrm>
            <a:off x="1134925" y="1951253"/>
            <a:ext cx="12740641" cy="1549142"/>
          </a:xfrm>
          <a:prstGeom prst="rect">
            <a:avLst/>
          </a:prstGeom>
          <a:noFill/>
        </p:spPr>
        <p:txBody>
          <a:bodyPr wrap="square" lIns="0" tIns="0" rIns="0" bIns="0" rtlCol="0" anchor="t">
            <a:spAutoFit/>
          </a:bodyPr>
          <a:lstStyle/>
          <a:p>
            <a:pPr marL="365760" indent="-365760">
              <a:lnSpc>
                <a:spcPts val="2994"/>
              </a:lnSpc>
              <a:spcBef>
                <a:spcPct val="0"/>
              </a:spcBef>
              <a:buClr>
                <a:srgbClr val="FF0000"/>
              </a:buClr>
              <a:buFont typeface="Wingdings" panose="05000000000000000000" pitchFamily="2" charset="2"/>
              <a:buChar char="Ø"/>
            </a:pPr>
            <a:r>
              <a:rPr lang="en-US" sz="3200" dirty="0" smtClean="0"/>
              <a:t>The existing systems for real-time color and object detection face several challenges and limitations that can hinder their effectiveness and reliability. Here are some of the key problems associated with these systems</a:t>
            </a:r>
            <a:endParaRPr lang="en-US" sz="2900" dirty="0">
              <a:latin typeface="Arial Unicode MS" panose="020B0604020202020204" pitchFamily="34" charset="-128"/>
              <a:ea typeface="Arial Unicode MS" panose="020B0604020202020204" pitchFamily="34" charset="-128"/>
              <a:cs typeface="Arial Unicode MS" panose="020B0604020202020204" pitchFamily="34" charset="-128"/>
              <a:sym typeface="Open Sans Bold"/>
            </a:endParaRPr>
          </a:p>
        </p:txBody>
      </p:sp>
      <p:pic>
        <p:nvPicPr>
          <p:cNvPr id="4" name="Picture 3" descr="C:\Users\MOHIT\Desktop\logo-icon.png">
            <a:extLst>
              <a:ext uri="{FF2B5EF4-FFF2-40B4-BE49-F238E27FC236}">
                <a16:creationId xmlns="" xmlns:a16="http://schemas.microsoft.com/office/drawing/2014/main" id="{3E27D943-189D-A209-6332-1D9452975B06}"/>
              </a:ext>
            </a:extLst>
          </p:cNvPr>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5290" y="12567"/>
            <a:ext cx="2119271" cy="1825099"/>
          </a:xfrm>
          <a:prstGeom prst="rect">
            <a:avLst/>
          </a:prstGeom>
          <a:noFill/>
          <a:ln w="9525">
            <a:noFill/>
            <a:miter lim="800000"/>
            <a:headEnd/>
            <a:tailEnd/>
          </a:ln>
        </p:spPr>
      </p:pic>
      <p:pic>
        <p:nvPicPr>
          <p:cNvPr id="5" name="Picture 4">
            <a:extLst>
              <a:ext uri="{FF2B5EF4-FFF2-40B4-BE49-F238E27FC236}">
                <a16:creationId xmlns="" xmlns:a16="http://schemas.microsoft.com/office/drawing/2014/main" id="{0C2421C5-384D-5064-FBD3-3DE2958A7E8D}"/>
              </a:ext>
            </a:extLst>
          </p:cNvPr>
          <p:cNvPicPr>
            <a:picLocks noChangeAspect="1"/>
          </p:cNvPicPr>
          <p:nvPr/>
        </p:nvPicPr>
        <p:blipFill>
          <a:blip r:embed="rId5">
            <a:extLst>
              <a:ext uri="{28A0092B-C50C-407E-A947-70E740481C1C}">
                <a14:useLocalDpi xmlns="" xmlns:a14="http://schemas.microsoft.com/office/drawing/2010/main" val="0"/>
              </a:ext>
            </a:extLst>
          </a:blip>
          <a:stretch>
            <a:fillRect/>
          </a:stretch>
        </p:blipFill>
        <p:spPr>
          <a:xfrm>
            <a:off x="12562790" y="12567"/>
            <a:ext cx="2067610" cy="1773890"/>
          </a:xfrm>
          <a:prstGeom prst="rect">
            <a:avLst/>
          </a:prstGeom>
          <a:ln>
            <a:solidFill>
              <a:schemeClr val="bg1"/>
            </a:solidFill>
          </a:ln>
        </p:spPr>
      </p:pic>
      <p:sp>
        <p:nvSpPr>
          <p:cNvPr id="7" name="TextBox 6">
            <a:extLst>
              <a:ext uri="{FF2B5EF4-FFF2-40B4-BE49-F238E27FC236}">
                <a16:creationId xmlns="" xmlns:a16="http://schemas.microsoft.com/office/drawing/2014/main" id="{C85A1A48-62AB-67DB-CBCC-4E5388BE96E2}"/>
              </a:ext>
            </a:extLst>
          </p:cNvPr>
          <p:cNvSpPr txBox="1"/>
          <p:nvPr/>
        </p:nvSpPr>
        <p:spPr>
          <a:xfrm>
            <a:off x="1134925" y="3964517"/>
            <a:ext cx="4107635" cy="2197525"/>
          </a:xfrm>
          <a:prstGeom prst="rect">
            <a:avLst/>
          </a:prstGeom>
          <a:noFill/>
        </p:spPr>
        <p:txBody>
          <a:bodyPr wrap="square" lIns="73152" tIns="36576" rIns="73152" bIns="36576">
            <a:spAutoFit/>
          </a:bodyPr>
          <a:lstStyle/>
          <a:p>
            <a:pPr marL="365760" indent="-365760">
              <a:buFont typeface="Wingdings" panose="05000000000000000000" pitchFamily="2" charset="2"/>
              <a:buChar char="Ø"/>
            </a:pPr>
            <a:r>
              <a:rPr lang="en-US" sz="2600" b="1" kern="0" dirty="0" smtClean="0">
                <a:solidFill>
                  <a:srgbClr val="FF0000"/>
                </a:solidFill>
                <a:latin typeface="Comic Sans MS" panose="030F0702030302020204" pitchFamily="66" charset="0"/>
              </a:rPr>
              <a:t>Lighting</a:t>
            </a:r>
            <a:r>
              <a:rPr lang="en-US" sz="2800" b="1" dirty="0" smtClean="0"/>
              <a:t> </a:t>
            </a:r>
            <a:r>
              <a:rPr lang="en-US" sz="2600" b="1" kern="0" dirty="0" smtClean="0">
                <a:solidFill>
                  <a:srgbClr val="FF0000"/>
                </a:solidFill>
                <a:latin typeface="Comic Sans MS" panose="030F0702030302020204" pitchFamily="66" charset="0"/>
              </a:rPr>
              <a:t>Variability</a:t>
            </a:r>
          </a:p>
          <a:p>
            <a:pPr marL="365760" indent="-365760">
              <a:buFont typeface="Wingdings" panose="05000000000000000000" pitchFamily="2" charset="2"/>
              <a:buChar char="Ø"/>
            </a:pPr>
            <a:r>
              <a:rPr lang="en-US" sz="2600" b="1" kern="0" dirty="0" smtClean="0">
                <a:solidFill>
                  <a:srgbClr val="FF0000"/>
                </a:solidFill>
                <a:latin typeface="Comic Sans MS" panose="030F0702030302020204" pitchFamily="66" charset="0"/>
              </a:rPr>
              <a:t>Color</a:t>
            </a:r>
            <a:r>
              <a:rPr lang="en-US" sz="2800" b="1" dirty="0" smtClean="0"/>
              <a:t> </a:t>
            </a:r>
            <a:r>
              <a:rPr lang="en-US" sz="2600" b="1" kern="0" dirty="0" smtClean="0">
                <a:solidFill>
                  <a:srgbClr val="FF0000"/>
                </a:solidFill>
                <a:latin typeface="Comic Sans MS" panose="030F0702030302020204" pitchFamily="66" charset="0"/>
              </a:rPr>
              <a:t>Similarity</a:t>
            </a:r>
          </a:p>
          <a:p>
            <a:pPr marL="365760" indent="-365760">
              <a:buFont typeface="Wingdings" panose="05000000000000000000" pitchFamily="2" charset="2"/>
              <a:buChar char="Ø"/>
            </a:pPr>
            <a:r>
              <a:rPr lang="en-US" sz="2600" b="1" kern="0" dirty="0" smtClean="0">
                <a:solidFill>
                  <a:srgbClr val="FF0000"/>
                </a:solidFill>
                <a:latin typeface="Comic Sans MS" panose="030F0702030302020204" pitchFamily="66" charset="0"/>
              </a:rPr>
              <a:t>Real-Time</a:t>
            </a:r>
            <a:r>
              <a:rPr lang="en-US" sz="2800" b="1" dirty="0" smtClean="0"/>
              <a:t> </a:t>
            </a:r>
            <a:r>
              <a:rPr lang="en-US" sz="2600" b="1" kern="0" dirty="0" smtClean="0">
                <a:solidFill>
                  <a:srgbClr val="FF0000"/>
                </a:solidFill>
                <a:latin typeface="Comic Sans MS" panose="030F0702030302020204" pitchFamily="66" charset="0"/>
              </a:rPr>
              <a:t>Processing</a:t>
            </a:r>
            <a:r>
              <a:rPr lang="en-US" sz="2800" b="1" dirty="0" smtClean="0"/>
              <a:t> </a:t>
            </a:r>
            <a:r>
              <a:rPr lang="en-US" sz="2600" b="1" kern="0" dirty="0" smtClean="0">
                <a:solidFill>
                  <a:srgbClr val="FF0000"/>
                </a:solidFill>
                <a:latin typeface="Comic Sans MS" panose="030F0702030302020204" pitchFamily="66" charset="0"/>
              </a:rPr>
              <a:t>Limitations</a:t>
            </a:r>
          </a:p>
          <a:p>
            <a:pPr marL="365760" indent="-365760">
              <a:buFont typeface="Wingdings" panose="05000000000000000000" pitchFamily="2" charset="2"/>
              <a:buChar char="Ø"/>
            </a:pPr>
            <a:r>
              <a:rPr lang="en-IN" sz="2600" b="1" kern="0" dirty="0" smtClean="0">
                <a:solidFill>
                  <a:srgbClr val="FF0000"/>
                </a:solidFill>
                <a:latin typeface="Comic Sans MS" panose="030F0702030302020204" pitchFamily="66" charset="0"/>
              </a:rPr>
              <a:t>Scalability </a:t>
            </a:r>
            <a:r>
              <a:rPr lang="en-IN" sz="2600" b="1" kern="0" dirty="0">
                <a:solidFill>
                  <a:srgbClr val="FF0000"/>
                </a:solidFill>
                <a:latin typeface="Comic Sans MS" panose="030F0702030302020204" pitchFamily="66" charset="0"/>
              </a:rPr>
              <a:t>&amp; Cost</a:t>
            </a:r>
          </a:p>
        </p:txBody>
      </p:sp>
      <p:sp>
        <p:nvSpPr>
          <p:cNvPr id="14" name="TextBox 13"/>
          <p:cNvSpPr txBox="1"/>
          <p:nvPr/>
        </p:nvSpPr>
        <p:spPr>
          <a:xfrm>
            <a:off x="7028102" y="7367826"/>
            <a:ext cx="6394465" cy="861774"/>
          </a:xfrm>
          <a:prstGeom prst="rect">
            <a:avLst/>
          </a:prstGeom>
          <a:noFill/>
        </p:spPr>
        <p:txBody>
          <a:bodyPr wrap="square" rtlCol="0">
            <a:spAutoFit/>
          </a:bodyPr>
          <a:lstStyle/>
          <a:p>
            <a:pPr algn="ctr"/>
            <a:r>
              <a:rPr lang="en-US" sz="2600" b="1" kern="0" dirty="0" smtClean="0">
                <a:solidFill>
                  <a:srgbClr val="FF0000"/>
                </a:solidFill>
                <a:latin typeface="Comic Sans MS" panose="030F0702030302020204" pitchFamily="66" charset="0"/>
              </a:rPr>
              <a:t>Object</a:t>
            </a:r>
            <a:r>
              <a:rPr lang="en-US" dirty="0" smtClean="0"/>
              <a:t> </a:t>
            </a:r>
            <a:r>
              <a:rPr lang="en-US" sz="2600" b="1" kern="0" dirty="0" smtClean="0">
                <a:solidFill>
                  <a:srgbClr val="FF0000"/>
                </a:solidFill>
                <a:latin typeface="Comic Sans MS" panose="030F0702030302020204" pitchFamily="66" charset="0"/>
              </a:rPr>
              <a:t>Detection</a:t>
            </a:r>
            <a:r>
              <a:rPr lang="en-US" sz="3200" dirty="0" smtClean="0"/>
              <a:t> </a:t>
            </a:r>
            <a:r>
              <a:rPr lang="en-US" sz="2600" b="1" kern="0" dirty="0" smtClean="0">
                <a:solidFill>
                  <a:srgbClr val="FF0000"/>
                </a:solidFill>
                <a:latin typeface="Comic Sans MS" panose="030F0702030302020204" pitchFamily="66" charset="0"/>
              </a:rPr>
              <a:t>using</a:t>
            </a:r>
            <a:r>
              <a:rPr lang="en-US" sz="3200" dirty="0" smtClean="0"/>
              <a:t> </a:t>
            </a:r>
            <a:r>
              <a:rPr lang="en-US" sz="2600" b="1" kern="0" dirty="0" smtClean="0">
                <a:solidFill>
                  <a:srgbClr val="FF0000"/>
                </a:solidFill>
                <a:latin typeface="Comic Sans MS" panose="030F0702030302020204" pitchFamily="66" charset="0"/>
              </a:rPr>
              <a:t>Color estimation</a:t>
            </a:r>
          </a:p>
          <a:p>
            <a:pPr algn="ctr"/>
            <a:r>
              <a:rPr lang="en-US" dirty="0" smtClean="0"/>
              <a:t> </a:t>
            </a:r>
            <a:endParaRPr lang="en-US" dirty="0"/>
          </a:p>
        </p:txBody>
      </p:sp>
      <p:pic>
        <p:nvPicPr>
          <p:cNvPr id="15" name="Image 1" descr="preencoded.png"/>
          <p:cNvPicPr>
            <a:picLocks noChangeAspect="1"/>
          </p:cNvPicPr>
          <p:nvPr/>
        </p:nvPicPr>
        <p:blipFill>
          <a:blip r:embed="rId6"/>
          <a:stretch>
            <a:fillRect/>
          </a:stretch>
        </p:blipFill>
        <p:spPr>
          <a:xfrm>
            <a:off x="6679770" y="3335598"/>
            <a:ext cx="6975271" cy="4032227"/>
          </a:xfrm>
          <a:prstGeom prst="rect">
            <a:avLst/>
          </a:prstGeom>
        </p:spPr>
      </p:pic>
    </p:spTree>
    <p:extLst>
      <p:ext uri="{BB962C8B-B14F-4D97-AF65-F5344CB8AC3E}">
        <p14:creationId xmlns="" xmlns:p14="http://schemas.microsoft.com/office/powerpoint/2010/main" val="3817466074"/>
      </p:ext>
    </p:ext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FF4D39A6-CF60-3FF2-D4CA-233084E888C9}"/>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2984480" y="6284"/>
            <a:ext cx="1645920" cy="1462874"/>
          </a:xfrm>
          <a:prstGeom prst="rect">
            <a:avLst/>
          </a:prstGeom>
          <a:ln>
            <a:solidFill>
              <a:schemeClr val="bg1"/>
            </a:solidFill>
          </a:ln>
        </p:spPr>
      </p:pic>
      <p:sp>
        <p:nvSpPr>
          <p:cNvPr id="12" name="Freeform 12"/>
          <p:cNvSpPr/>
          <p:nvPr/>
        </p:nvSpPr>
        <p:spPr>
          <a:xfrm>
            <a:off x="18075" y="-286097"/>
            <a:ext cx="5497275" cy="8229600"/>
          </a:xfrm>
          <a:custGeom>
            <a:avLst/>
            <a:gdLst/>
            <a:ahLst/>
            <a:cxnLst/>
            <a:rect l="l" t="t" r="r" b="b"/>
            <a:pathLst>
              <a:path w="6871594" h="10287000">
                <a:moveTo>
                  <a:pt x="0" y="0"/>
                </a:moveTo>
                <a:lnTo>
                  <a:pt x="6871594" y="0"/>
                </a:lnTo>
                <a:lnTo>
                  <a:pt x="6871594" y="10287000"/>
                </a:lnTo>
                <a:lnTo>
                  <a:pt x="0" y="102870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3" name="Freeform 13"/>
          <p:cNvSpPr/>
          <p:nvPr/>
        </p:nvSpPr>
        <p:spPr>
          <a:xfrm>
            <a:off x="18075" y="2967614"/>
            <a:ext cx="5350122" cy="1722180"/>
          </a:xfrm>
          <a:custGeom>
            <a:avLst/>
            <a:gdLst/>
            <a:ahLst/>
            <a:cxnLst/>
            <a:rect l="l" t="t" r="r" b="b"/>
            <a:pathLst>
              <a:path w="6687652" h="2152725">
                <a:moveTo>
                  <a:pt x="0" y="0"/>
                </a:moveTo>
                <a:lnTo>
                  <a:pt x="6687652" y="0"/>
                </a:lnTo>
                <a:lnTo>
                  <a:pt x="6687652" y="2152725"/>
                </a:lnTo>
                <a:lnTo>
                  <a:pt x="0" y="215272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5" name="Freeform 15"/>
          <p:cNvSpPr/>
          <p:nvPr/>
        </p:nvSpPr>
        <p:spPr>
          <a:xfrm>
            <a:off x="13448169" y="7053993"/>
            <a:ext cx="1182231" cy="1130643"/>
          </a:xfrm>
          <a:custGeom>
            <a:avLst/>
            <a:gdLst/>
            <a:ahLst/>
            <a:cxnLst/>
            <a:rect l="l" t="t" r="r" b="b"/>
            <a:pathLst>
              <a:path w="1477789" h="1413304">
                <a:moveTo>
                  <a:pt x="0" y="0"/>
                </a:moveTo>
                <a:lnTo>
                  <a:pt x="1477789" y="0"/>
                </a:lnTo>
                <a:lnTo>
                  <a:pt x="1477789" y="1413303"/>
                </a:lnTo>
                <a:lnTo>
                  <a:pt x="0" y="1413303"/>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7" name="TextBox 27"/>
          <p:cNvSpPr txBox="1"/>
          <p:nvPr/>
        </p:nvSpPr>
        <p:spPr>
          <a:xfrm>
            <a:off x="548640" y="1924144"/>
            <a:ext cx="5592758" cy="820738"/>
          </a:xfrm>
          <a:prstGeom prst="rect">
            <a:avLst/>
          </a:prstGeom>
        </p:spPr>
        <p:txBody>
          <a:bodyPr lIns="0" tIns="0" rIns="0" bIns="0" rtlCol="0" anchor="t">
            <a:spAutoFit/>
          </a:bodyPr>
          <a:lstStyle/>
          <a:p>
            <a:pPr>
              <a:lnSpc>
                <a:spcPts val="6432"/>
              </a:lnSpc>
              <a:spcBef>
                <a:spcPct val="0"/>
              </a:spcBef>
            </a:pPr>
            <a:r>
              <a:rPr lang="en-US" sz="5400" dirty="0">
                <a:solidFill>
                  <a:srgbClr val="000000"/>
                </a:solidFill>
                <a:latin typeface="Open Sans Bold"/>
                <a:ea typeface="Open Sans Bold"/>
                <a:cs typeface="Open Sans Bold"/>
                <a:sym typeface="Open Sans Bold"/>
              </a:rPr>
              <a:t>INTRODUCTION</a:t>
            </a:r>
          </a:p>
        </p:txBody>
      </p:sp>
      <p:sp>
        <p:nvSpPr>
          <p:cNvPr id="28" name="TextBox 27">
            <a:extLst>
              <a:ext uri="{FF2B5EF4-FFF2-40B4-BE49-F238E27FC236}">
                <a16:creationId xmlns="" xmlns:a16="http://schemas.microsoft.com/office/drawing/2014/main" id="{F9432A2D-64BE-0EAB-EBF3-5BDEDD8161B2}"/>
              </a:ext>
            </a:extLst>
          </p:cNvPr>
          <p:cNvSpPr txBox="1"/>
          <p:nvPr/>
        </p:nvSpPr>
        <p:spPr>
          <a:xfrm>
            <a:off x="5795226" y="640080"/>
            <a:ext cx="8606533" cy="6460230"/>
          </a:xfrm>
          <a:prstGeom prst="rect">
            <a:avLst/>
          </a:prstGeom>
          <a:noFill/>
        </p:spPr>
        <p:txBody>
          <a:bodyPr wrap="square" lIns="73152" tIns="36576" rIns="73152" bIns="36576" rtlCol="0">
            <a:spAutoFit/>
          </a:bodyPr>
          <a:lstStyle/>
          <a:p>
            <a:r>
              <a:rPr lang="en-US" sz="2900" dirty="0">
                <a:latin typeface="Arial Rounded MT Bold" panose="020F0704030504030204" pitchFamily="34" charset="0"/>
              </a:rPr>
              <a:t>Integration of Advance Technologies in key </a:t>
            </a:r>
          </a:p>
          <a:p>
            <a:r>
              <a:rPr lang="en-US" sz="2900" dirty="0">
                <a:latin typeface="Arial Rounded MT Bold" panose="020F0704030504030204" pitchFamily="34" charset="0"/>
              </a:rPr>
              <a:t>to addressing long lasting challenges such as: </a:t>
            </a:r>
          </a:p>
          <a:p>
            <a:endParaRPr lang="en-US" sz="2900" dirty="0">
              <a:latin typeface="Arial Rounded MT Bold" panose="020F0704030504030204" pitchFamily="34" charset="0"/>
            </a:endParaRPr>
          </a:p>
          <a:p>
            <a:pPr marL="365760" indent="-365760">
              <a:buFont typeface="Wingdings" panose="05000000000000000000" pitchFamily="2" charset="2"/>
              <a:buChar char="Ø"/>
            </a:pPr>
            <a:r>
              <a:rPr lang="en-US" sz="2900"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Color</a:t>
            </a:r>
            <a:r>
              <a:rPr lang="en-US" sz="3200" b="1" dirty="0" smtClean="0"/>
              <a:t> </a:t>
            </a:r>
            <a:r>
              <a:rPr lang="en-US" sz="2900"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Variability</a:t>
            </a:r>
            <a:r>
              <a:rPr lang="en-US" sz="2900" dirty="0" smtClean="0">
                <a:latin typeface="Arial Rounded MT Bold" panose="020F0704030504030204" pitchFamily="34" charset="0"/>
              </a:rPr>
              <a:t> </a:t>
            </a:r>
            <a:endParaRPr lang="en-US" sz="2900" dirty="0">
              <a:latin typeface="Arial Rounded MT Bold" panose="020F0704030504030204" pitchFamily="34" charset="0"/>
            </a:endParaRPr>
          </a:p>
          <a:p>
            <a:pPr marL="365760" indent="-365760">
              <a:buFont typeface="Wingdings" panose="05000000000000000000" pitchFamily="2" charset="2"/>
              <a:buChar char="Ø"/>
            </a:pPr>
            <a:r>
              <a:rPr lang="en-US" sz="2900"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Background</a:t>
            </a:r>
            <a:r>
              <a:rPr lang="en-US" sz="3200" b="1" dirty="0" smtClean="0"/>
              <a:t> </a:t>
            </a:r>
            <a:r>
              <a:rPr lang="en-US" sz="2900"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Interference</a:t>
            </a:r>
          </a:p>
          <a:p>
            <a:pPr marL="365760" indent="-365760">
              <a:buFont typeface="Wingdings" panose="05000000000000000000" pitchFamily="2" charset="2"/>
              <a:buChar char="Ø"/>
            </a:pPr>
            <a:r>
              <a:rPr lang="en-IN" sz="2900" kern="0" dirty="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Transparency</a:t>
            </a:r>
            <a:r>
              <a:rPr lang="en-US" sz="2900" dirty="0">
                <a:latin typeface="Arial Rounded MT Bold" panose="020F0704030504030204" pitchFamily="34" charset="0"/>
              </a:rPr>
              <a:t> </a:t>
            </a:r>
          </a:p>
          <a:p>
            <a:pPr marL="365760" indent="-365760">
              <a:buFont typeface="Wingdings" panose="05000000000000000000" pitchFamily="2" charset="2"/>
              <a:buChar char="Ø"/>
            </a:pPr>
            <a:r>
              <a:rPr lang="en-US" sz="2900"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Real-Time</a:t>
            </a:r>
            <a:r>
              <a:rPr lang="en-US" sz="3200" b="1" dirty="0" smtClean="0"/>
              <a:t> </a:t>
            </a:r>
            <a:r>
              <a:rPr lang="en-US" sz="2900"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Processing</a:t>
            </a:r>
          </a:p>
          <a:p>
            <a:pPr marL="365760" indent="-365760"/>
            <a:endParaRPr lang="en-IN" sz="2900" dirty="0">
              <a:latin typeface="Arial Rounded MT Bold" panose="020F0704030504030204" pitchFamily="34" charset="0"/>
            </a:endParaRPr>
          </a:p>
          <a:p>
            <a:r>
              <a:rPr lang="en-IN" sz="2900" b="1" u="sng" dirty="0">
                <a:latin typeface="Castellar" panose="020A0402060406010301" pitchFamily="18" charset="0"/>
              </a:rPr>
              <a:t>AIM</a:t>
            </a:r>
            <a:r>
              <a:rPr lang="en-IN" sz="2900" b="1" u="sng" dirty="0">
                <a:latin typeface="Arial Rounded MT Bold" panose="020F0704030504030204" pitchFamily="34" charset="0"/>
              </a:rPr>
              <a:t> : </a:t>
            </a:r>
            <a:r>
              <a:rPr lang="en-IN" sz="2900" dirty="0">
                <a:latin typeface="Arial Rounded MT Bold" panose="020F0704030504030204" pitchFamily="34" charset="0"/>
              </a:rPr>
              <a:t> </a:t>
            </a:r>
            <a:r>
              <a:rPr lang="en-US" sz="2900" dirty="0" smtClean="0">
                <a:latin typeface="Arial Rounded MT Bold" panose="020F0704030504030204" pitchFamily="34" charset="0"/>
              </a:rPr>
              <a:t>This project aims to develop a system capable of detecting both the color and objects present in an image. This system will leverage advanced computer vision techniques and machine learning algorithms to achieve accurate and efficient results.</a:t>
            </a:r>
          </a:p>
        </p:txBody>
      </p:sp>
      <p:pic>
        <p:nvPicPr>
          <p:cNvPr id="3" name="Picture 2" descr="C:\Users\MOHIT\Desktop\logo-icon.png">
            <a:extLst>
              <a:ext uri="{FF2B5EF4-FFF2-40B4-BE49-F238E27FC236}">
                <a16:creationId xmlns="" xmlns:a16="http://schemas.microsoft.com/office/drawing/2014/main" id="{7E5E41F2-0904-FB83-F288-B89B49F5C459}"/>
              </a:ext>
            </a:extLst>
          </p:cNvPr>
          <p:cNvPicPr/>
          <p:nvPr/>
        </p:nvPicPr>
        <p:blipFill>
          <a:blip r:embed="rId9" cstate="print">
            <a:extLst>
              <a:ext uri="{28A0092B-C50C-407E-A947-70E740481C1C}">
                <a14:useLocalDpi xmlns="" xmlns:a14="http://schemas.microsoft.com/office/drawing/2010/main" val="0"/>
              </a:ext>
            </a:extLst>
          </a:blip>
          <a:srcRect/>
          <a:stretch>
            <a:fillRect/>
          </a:stretch>
        </p:blipFill>
        <p:spPr bwMode="auto">
          <a:xfrm>
            <a:off x="75291" y="12567"/>
            <a:ext cx="1753510" cy="1371183"/>
          </a:xfrm>
          <a:prstGeom prst="rect">
            <a:avLst/>
          </a:prstGeom>
          <a:noFill/>
          <a:ln w="9525">
            <a:noFill/>
            <a:miter lim="800000"/>
            <a:headEnd/>
            <a:tailEnd/>
          </a:ln>
        </p:spPr>
      </p:pic>
      <p:pic>
        <p:nvPicPr>
          <p:cNvPr id="16" name="Image 2" descr="preencoded.png"/>
          <p:cNvPicPr>
            <a:picLocks noChangeAspect="1"/>
          </p:cNvPicPr>
          <p:nvPr/>
        </p:nvPicPr>
        <p:blipFill>
          <a:blip r:embed="rId10"/>
          <a:stretch>
            <a:fillRect/>
          </a:stretch>
        </p:blipFill>
        <p:spPr>
          <a:xfrm>
            <a:off x="548640" y="3228923"/>
            <a:ext cx="4966710" cy="2921742"/>
          </a:xfrm>
          <a:prstGeom prst="rect">
            <a:avLst/>
          </a:prstGeom>
        </p:spPr>
      </p:pic>
    </p:spTree>
  </p:cSld>
  <p:clrMapOvr>
    <a:masterClrMapping/>
  </p:clrMapOvr>
  <p:transition>
    <p:wipe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3057210" y="307490"/>
            <a:ext cx="8690606" cy="987450"/>
          </a:xfrm>
          <a:prstGeom prst="rect">
            <a:avLst/>
          </a:prstGeom>
        </p:spPr>
        <p:txBody>
          <a:bodyPr lIns="0" tIns="0" rIns="0" bIns="0" rtlCol="0" anchor="t">
            <a:spAutoFit/>
          </a:bodyPr>
          <a:lstStyle/>
          <a:p>
            <a:pPr algn="ctr">
              <a:lnSpc>
                <a:spcPts val="7680"/>
              </a:lnSpc>
              <a:spcBef>
                <a:spcPct val="0"/>
              </a:spcBef>
            </a:pPr>
            <a:r>
              <a:rPr lang="en-US" sz="6400" u="sng" dirty="0">
                <a:solidFill>
                  <a:srgbClr val="000000"/>
                </a:solidFill>
                <a:latin typeface="Open Sans Bold"/>
                <a:ea typeface="Open Sans Bold"/>
                <a:cs typeface="Open Sans Bold"/>
                <a:sym typeface="Open Sans Bold"/>
              </a:rPr>
              <a:t>PROJECT</a:t>
            </a:r>
            <a:r>
              <a:rPr lang="en-US" sz="6400" dirty="0">
                <a:solidFill>
                  <a:srgbClr val="000000"/>
                </a:solidFill>
                <a:latin typeface="Open Sans Bold"/>
                <a:ea typeface="Open Sans Bold"/>
                <a:cs typeface="Open Sans Bold"/>
                <a:sym typeface="Open Sans Bold"/>
              </a:rPr>
              <a:t> </a:t>
            </a:r>
            <a:r>
              <a:rPr lang="en-US" sz="6400" u="sng" dirty="0">
                <a:solidFill>
                  <a:srgbClr val="000000"/>
                </a:solidFill>
                <a:latin typeface="Open Sans Bold"/>
                <a:ea typeface="Open Sans Bold"/>
                <a:cs typeface="Open Sans Bold"/>
                <a:sym typeface="Open Sans Bold"/>
              </a:rPr>
              <a:t>OVERVIEW</a:t>
            </a:r>
          </a:p>
        </p:txBody>
      </p:sp>
      <p:sp>
        <p:nvSpPr>
          <p:cNvPr id="11" name="Freeform 11"/>
          <p:cNvSpPr/>
          <p:nvPr/>
        </p:nvSpPr>
        <p:spPr>
          <a:xfrm>
            <a:off x="5050905" y="0"/>
            <a:ext cx="4361319" cy="2725824"/>
          </a:xfrm>
          <a:custGeom>
            <a:avLst/>
            <a:gdLst/>
            <a:ahLst/>
            <a:cxnLst/>
            <a:rect l="l" t="t" r="r" b="b"/>
            <a:pathLst>
              <a:path w="5451649" h="3407280">
                <a:moveTo>
                  <a:pt x="0" y="0"/>
                </a:moveTo>
                <a:lnTo>
                  <a:pt x="5451649" y="0"/>
                </a:lnTo>
                <a:lnTo>
                  <a:pt x="5451649" y="3407280"/>
                </a:lnTo>
                <a:lnTo>
                  <a:pt x="0" y="340728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3" name="TextBox 13"/>
          <p:cNvSpPr txBox="1"/>
          <p:nvPr/>
        </p:nvSpPr>
        <p:spPr>
          <a:xfrm>
            <a:off x="574992" y="1828700"/>
            <a:ext cx="13655040" cy="6232475"/>
          </a:xfrm>
          <a:prstGeom prst="rect">
            <a:avLst/>
          </a:prstGeom>
          <a:noFill/>
        </p:spPr>
        <p:txBody>
          <a:bodyPr wrap="square" lIns="0" tIns="0" rIns="0" bIns="0" rtlCol="0" anchor="t">
            <a:spAutoFit/>
          </a:bodyPr>
          <a:lstStyle/>
          <a:p>
            <a:pPr marL="365760" indent="-365760">
              <a:lnSpc>
                <a:spcPct val="150000"/>
              </a:lnSpc>
              <a:spcBef>
                <a:spcPct val="0"/>
              </a:spcBef>
              <a:buClr>
                <a:srgbClr val="FF0000"/>
              </a:buClr>
              <a:buFont typeface="Wingdings" panose="05000000000000000000" pitchFamily="2" charset="2"/>
              <a:buChar char="Ø"/>
            </a:pPr>
            <a:r>
              <a:rPr lang="en-US" sz="2600" dirty="0" smtClean="0">
                <a:latin typeface="Arial Rounded MT Bold" panose="020F0704030504030204" pitchFamily="34" charset="0"/>
                <a:ea typeface="Open Sans Bold"/>
                <a:cs typeface="Open Sans Bold"/>
                <a:sym typeface="Open Sans Bold"/>
              </a:rPr>
              <a:t>The system processes video frames in real-time, providing immediate feedback on detected objects</a:t>
            </a:r>
            <a:r>
              <a:rPr lang="en-US" sz="2800" dirty="0" smtClean="0"/>
              <a:t>.</a:t>
            </a:r>
            <a:r>
              <a:rPr lang="en-US" sz="2600" dirty="0" smtClean="0">
                <a:latin typeface="Arial Rounded MT Bold" panose="020F0704030504030204" pitchFamily="34" charset="0"/>
                <a:ea typeface="Open Sans Bold"/>
                <a:cs typeface="Open Sans Bold"/>
                <a:sym typeface="Open Sans Bold"/>
              </a:rPr>
              <a:t> </a:t>
            </a:r>
            <a:endParaRPr lang="en-US" sz="2600" dirty="0">
              <a:latin typeface="Arial Rounded MT Bold" panose="020F0704030504030204" pitchFamily="34" charset="0"/>
              <a:ea typeface="Open Sans Bold"/>
              <a:cs typeface="Open Sans Bold"/>
              <a:sym typeface="Open Sans Bold"/>
            </a:endParaRPr>
          </a:p>
          <a:p>
            <a:pPr marL="365760" indent="-365760">
              <a:lnSpc>
                <a:spcPct val="150000"/>
              </a:lnSpc>
              <a:spcBef>
                <a:spcPct val="0"/>
              </a:spcBef>
              <a:buClr>
                <a:srgbClr val="FF0000"/>
              </a:buClr>
              <a:buFont typeface="Wingdings" panose="05000000000000000000" pitchFamily="2" charset="2"/>
              <a:buChar char="Ø"/>
            </a:pPr>
            <a:r>
              <a:rPr lang="en-US" sz="2800" dirty="0" smtClean="0"/>
              <a:t> </a:t>
            </a:r>
            <a:r>
              <a:rPr lang="en-US" sz="2600" dirty="0" smtClean="0">
                <a:latin typeface="Arial Rounded MT Bold" panose="020F0704030504030204" pitchFamily="34" charset="0"/>
                <a:ea typeface="Open Sans Bold"/>
                <a:cs typeface="Open Sans Bold"/>
                <a:sym typeface="Open Sans Bold"/>
              </a:rPr>
              <a:t>It identifies objects based on specific color attributes, allowing for targeted detection</a:t>
            </a:r>
            <a:r>
              <a:rPr lang="en-US" sz="2600" dirty="0" smtClean="0">
                <a:latin typeface="Arial Rounded MT Bold" panose="020F0704030504030204" pitchFamily="34" charset="0"/>
                <a:ea typeface="Open Sans Bold"/>
                <a:cs typeface="Open Sans Bold"/>
                <a:sym typeface="Open Sans Bold"/>
              </a:rPr>
              <a:t>.</a:t>
            </a:r>
          </a:p>
          <a:p>
            <a:pPr marL="365760" indent="-365760">
              <a:lnSpc>
                <a:spcPct val="150000"/>
              </a:lnSpc>
              <a:spcBef>
                <a:spcPct val="0"/>
              </a:spcBef>
              <a:buClr>
                <a:srgbClr val="FF0000"/>
              </a:buClr>
              <a:buFont typeface="Wingdings" panose="05000000000000000000" pitchFamily="2" charset="2"/>
              <a:buChar char="Ø"/>
            </a:pPr>
            <a:r>
              <a:rPr lang="en-US" sz="2600" dirty="0" smtClean="0">
                <a:latin typeface="Arial Rounded MT Bold" panose="020F0704030504030204" pitchFamily="34" charset="0"/>
                <a:ea typeface="Open Sans Bold"/>
                <a:cs typeface="Open Sans Bold"/>
                <a:sym typeface="Open Sans Bold"/>
              </a:rPr>
              <a:t>The </a:t>
            </a:r>
            <a:r>
              <a:rPr lang="en-US" sz="2600" dirty="0" smtClean="0">
                <a:latin typeface="Arial Rounded MT Bold" panose="020F0704030504030204" pitchFamily="34" charset="0"/>
                <a:ea typeface="Open Sans Bold"/>
                <a:cs typeface="Open Sans Bold"/>
                <a:sym typeface="Open Sans Bold"/>
              </a:rPr>
              <a:t>system can track the movement of detected objects across </a:t>
            </a:r>
            <a:r>
              <a:rPr lang="en-US" sz="2600" dirty="0" smtClean="0">
                <a:latin typeface="Arial Rounded MT Bold" panose="020F0704030504030204" pitchFamily="34" charset="0"/>
                <a:ea typeface="Open Sans Bold"/>
                <a:cs typeface="Open Sans Bold"/>
                <a:sym typeface="Open Sans Bold"/>
              </a:rPr>
              <a:t>frames</a:t>
            </a:r>
            <a:r>
              <a:rPr lang="en-US" sz="2800" dirty="0" smtClean="0"/>
              <a:t>. </a:t>
            </a:r>
          </a:p>
          <a:p>
            <a:pPr marL="365760" indent="-365760">
              <a:lnSpc>
                <a:spcPct val="150000"/>
              </a:lnSpc>
              <a:spcBef>
                <a:spcPct val="0"/>
              </a:spcBef>
              <a:buClr>
                <a:srgbClr val="FF0000"/>
              </a:buClr>
              <a:buFont typeface="Wingdings" panose="05000000000000000000" pitchFamily="2" charset="2"/>
              <a:buChar char="Ø"/>
            </a:pPr>
            <a:r>
              <a:rPr lang="en-US" sz="2600" dirty="0" smtClean="0">
                <a:latin typeface="Arial Rounded MT Bold" panose="020F0704030504030204" pitchFamily="34" charset="0"/>
                <a:ea typeface="Open Sans Bold"/>
                <a:cs typeface="Open Sans Bold"/>
                <a:sym typeface="Open Sans Bold"/>
              </a:rPr>
              <a:t>The system can be trained to recognize new colors and objects based on user input</a:t>
            </a:r>
            <a:r>
              <a:rPr lang="en-US" sz="2600" dirty="0" smtClean="0">
                <a:latin typeface="Arial Rounded MT Bold" panose="020F0704030504030204" pitchFamily="34" charset="0"/>
                <a:ea typeface="Open Sans Bold"/>
                <a:cs typeface="Open Sans Bold"/>
                <a:sym typeface="Open Sans Bold"/>
              </a:rPr>
              <a:t>.</a:t>
            </a:r>
          </a:p>
          <a:p>
            <a:pPr marL="365760" indent="-365760">
              <a:lnSpc>
                <a:spcPct val="150000"/>
              </a:lnSpc>
              <a:spcBef>
                <a:spcPct val="0"/>
              </a:spcBef>
              <a:buClr>
                <a:srgbClr val="FF0000"/>
              </a:buClr>
              <a:buFont typeface="Wingdings" panose="05000000000000000000" pitchFamily="2" charset="2"/>
              <a:buChar char="Ø"/>
            </a:pPr>
            <a:r>
              <a:rPr lang="en-US" sz="2600" dirty="0" smtClean="0">
                <a:latin typeface="Arial Rounded MT Bold" panose="020F0704030504030204" pitchFamily="34" charset="0"/>
                <a:ea typeface="Open Sans Bold"/>
                <a:cs typeface="Open Sans Bold"/>
                <a:sym typeface="Open Sans Bold"/>
              </a:rPr>
              <a:t>A graphical user interface (GUI) for easy interaction and parameter adjustment</a:t>
            </a:r>
            <a:r>
              <a:rPr lang="en-US" sz="2600" dirty="0" smtClean="0">
                <a:latin typeface="Arial Rounded MT Bold" panose="020F0704030504030204" pitchFamily="34" charset="0"/>
                <a:ea typeface="Open Sans Bold"/>
                <a:cs typeface="Open Sans Bold"/>
                <a:sym typeface="Open Sans Bold"/>
              </a:rPr>
              <a:t>.</a:t>
            </a:r>
          </a:p>
          <a:p>
            <a:pPr marL="365760" indent="-365760">
              <a:lnSpc>
                <a:spcPct val="150000"/>
              </a:lnSpc>
              <a:spcBef>
                <a:spcPct val="0"/>
              </a:spcBef>
              <a:buClr>
                <a:srgbClr val="FF0000"/>
              </a:buClr>
              <a:buFont typeface="Wingdings" panose="05000000000000000000" pitchFamily="2" charset="2"/>
              <a:buChar char="Ø"/>
            </a:pPr>
            <a:r>
              <a:rPr lang="en-US" sz="2600" dirty="0" smtClean="0">
                <a:latin typeface="Arial Rounded MT Bold" panose="020F0704030504030204" pitchFamily="34" charset="0"/>
                <a:ea typeface="Open Sans Bold"/>
                <a:cs typeface="Open Sans Bold"/>
                <a:sym typeface="Open Sans Bold"/>
              </a:rPr>
              <a:t>Users can define target colors and objects, making the system adaptable to various scenarios</a:t>
            </a:r>
            <a:r>
              <a:rPr lang="en-US" sz="2800" dirty="0" smtClean="0"/>
              <a:t>.</a:t>
            </a:r>
            <a:endParaRPr lang="en-US" sz="2600" dirty="0" smtClean="0">
              <a:latin typeface="Arial Rounded MT Bold" panose="020F0704030504030204" pitchFamily="34" charset="0"/>
              <a:ea typeface="Open Sans Bold"/>
              <a:cs typeface="Open Sans Bold"/>
              <a:sym typeface="Open Sans Bold"/>
            </a:endParaRPr>
          </a:p>
        </p:txBody>
      </p:sp>
      <p:pic>
        <p:nvPicPr>
          <p:cNvPr id="2" name="Picture 1" descr="C:\Users\MOHIT\Desktop\logo-icon.png">
            <a:extLst>
              <a:ext uri="{FF2B5EF4-FFF2-40B4-BE49-F238E27FC236}">
                <a16:creationId xmlns:a16="http://schemas.microsoft.com/office/drawing/2014/main" xmlns="" id="{8474AF14-7030-5A6C-0ED4-408339A03F94}"/>
              </a:ext>
            </a:extLst>
          </p:cNvPr>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75290" y="12566"/>
            <a:ext cx="1745255" cy="1541914"/>
          </a:xfrm>
          <a:prstGeom prst="rect">
            <a:avLst/>
          </a:prstGeom>
          <a:noFill/>
          <a:ln w="9525">
            <a:noFill/>
            <a:miter lim="800000"/>
            <a:headEnd/>
            <a:tailEnd/>
          </a:ln>
        </p:spPr>
      </p:pic>
      <p:pic>
        <p:nvPicPr>
          <p:cNvPr id="3" name="Picture 2">
            <a:extLst>
              <a:ext uri="{FF2B5EF4-FFF2-40B4-BE49-F238E27FC236}">
                <a16:creationId xmlns:a16="http://schemas.microsoft.com/office/drawing/2014/main" xmlns="" id="{90592169-B320-2881-5F7E-F84546F50355}"/>
              </a:ext>
            </a:extLst>
          </p:cNvPr>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2984480" y="6284"/>
            <a:ext cx="1645920" cy="1462874"/>
          </a:xfrm>
          <a:prstGeom prst="rect">
            <a:avLst/>
          </a:prstGeom>
          <a:ln>
            <a:solidFill>
              <a:schemeClr val="bg1"/>
            </a:solidFill>
          </a:ln>
        </p:spPr>
      </p:pic>
    </p:spTree>
  </p:cSld>
  <p:clrMapOvr>
    <a:masterClrMapping/>
  </p:clrMapOvr>
  <p:transition>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0B73B3-4A5E-41D9-B862-96D573762200}"/>
            </a:ext>
          </a:extLst>
        </p:cNvPr>
        <p:cNvGrpSpPr/>
        <p:nvPr/>
      </p:nvGrpSpPr>
      <p:grpSpPr>
        <a:xfrm>
          <a:off x="0" y="0"/>
          <a:ext cx="0" cy="0"/>
          <a:chOff x="0" y="0"/>
          <a:chExt cx="0" cy="0"/>
        </a:xfrm>
      </p:grpSpPr>
      <p:sp>
        <p:nvSpPr>
          <p:cNvPr id="9" name="Freeform 4">
            <a:extLst>
              <a:ext uri="{FF2B5EF4-FFF2-40B4-BE49-F238E27FC236}">
                <a16:creationId xmlns:a16="http://schemas.microsoft.com/office/drawing/2014/main" xmlns="" id="{68B21CDD-7161-F724-3830-DF74817E391E}"/>
              </a:ext>
            </a:extLst>
          </p:cNvPr>
          <p:cNvSpPr/>
          <p:nvPr/>
        </p:nvSpPr>
        <p:spPr>
          <a:xfrm>
            <a:off x="12556447" y="6309361"/>
            <a:ext cx="1934362" cy="1849954"/>
          </a:xfrm>
          <a:custGeom>
            <a:avLst/>
            <a:gdLst/>
            <a:ahLst/>
            <a:cxnLst/>
            <a:rect l="l" t="t" r="r" b="b"/>
            <a:pathLst>
              <a:path w="2417953" h="2312443">
                <a:moveTo>
                  <a:pt x="0" y="0"/>
                </a:moveTo>
                <a:lnTo>
                  <a:pt x="2417953" y="0"/>
                </a:lnTo>
                <a:lnTo>
                  <a:pt x="2417953" y="2312442"/>
                </a:lnTo>
                <a:lnTo>
                  <a:pt x="0" y="231244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1" name="Freeform 11">
            <a:extLst>
              <a:ext uri="{FF2B5EF4-FFF2-40B4-BE49-F238E27FC236}">
                <a16:creationId xmlns:a16="http://schemas.microsoft.com/office/drawing/2014/main" xmlns="" id="{B9455504-E4EB-0E78-9EB2-A4BCAAF38F7C}"/>
              </a:ext>
            </a:extLst>
          </p:cNvPr>
          <p:cNvSpPr/>
          <p:nvPr/>
        </p:nvSpPr>
        <p:spPr>
          <a:xfrm>
            <a:off x="5050905" y="0"/>
            <a:ext cx="4361319" cy="2725824"/>
          </a:xfrm>
          <a:custGeom>
            <a:avLst/>
            <a:gdLst/>
            <a:ahLst/>
            <a:cxnLst/>
            <a:rect l="l" t="t" r="r" b="b"/>
            <a:pathLst>
              <a:path w="5451649" h="3407280">
                <a:moveTo>
                  <a:pt x="0" y="0"/>
                </a:moveTo>
                <a:lnTo>
                  <a:pt x="5451649" y="0"/>
                </a:lnTo>
                <a:lnTo>
                  <a:pt x="5451649" y="3407280"/>
                </a:lnTo>
                <a:lnTo>
                  <a:pt x="0" y="34072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5">
            <a:extLst>
              <a:ext uri="{FF2B5EF4-FFF2-40B4-BE49-F238E27FC236}">
                <a16:creationId xmlns:a16="http://schemas.microsoft.com/office/drawing/2014/main" xmlns="" id="{AC66965F-2735-FBD4-7BCE-65C6A115AEA8}"/>
              </a:ext>
            </a:extLst>
          </p:cNvPr>
          <p:cNvSpPr txBox="1"/>
          <p:nvPr/>
        </p:nvSpPr>
        <p:spPr>
          <a:xfrm>
            <a:off x="792480" y="457200"/>
            <a:ext cx="12801600" cy="923330"/>
          </a:xfrm>
          <a:prstGeom prst="rect">
            <a:avLst/>
          </a:prstGeom>
          <a:noFill/>
        </p:spPr>
        <p:txBody>
          <a:bodyPr wrap="square" lIns="73152" tIns="36576" rIns="73152" bIns="36576">
            <a:spAutoFit/>
          </a:bodyPr>
          <a:lstStyle/>
          <a:p>
            <a:pPr algn="ctr">
              <a:lnSpc>
                <a:spcPct val="115000"/>
              </a:lnSpc>
              <a:spcAft>
                <a:spcPts val="800"/>
              </a:spcAft>
            </a:pPr>
            <a:r>
              <a:rPr lang="en-US" sz="4800" b="1" u="sng" kern="0" dirty="0">
                <a:solidFill>
                  <a:srgbClr val="000000"/>
                </a:solidFill>
                <a:latin typeface="Calibri" panose="020F0502020204030204" pitchFamily="34" charset="0"/>
                <a:ea typeface="Times New Roman" panose="02020603050405020304" pitchFamily="18" charset="0"/>
                <a:cs typeface="Calibri" panose="020F0502020204030204" pitchFamily="34" charset="0"/>
              </a:rPr>
              <a:t>EXSISTING SYSTEM</a:t>
            </a:r>
            <a:endParaRPr lang="en-IN" sz="4800" b="1" u="sng" kern="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8" name="Rectangle 7">
            <a:extLst>
              <a:ext uri="{FF2B5EF4-FFF2-40B4-BE49-F238E27FC236}">
                <a16:creationId xmlns:a16="http://schemas.microsoft.com/office/drawing/2014/main" xmlns="" id="{8CD7CDDD-8A3F-B8EF-558F-D7105A38B8A8}"/>
              </a:ext>
            </a:extLst>
          </p:cNvPr>
          <p:cNvSpPr/>
          <p:nvPr/>
        </p:nvSpPr>
        <p:spPr>
          <a:xfrm>
            <a:off x="5050904" y="1544616"/>
            <a:ext cx="9579495" cy="6327886"/>
          </a:xfrm>
          <a:prstGeom prst="rect">
            <a:avLst/>
          </a:prstGeom>
          <a:noFill/>
        </p:spPr>
        <p:txBody>
          <a:bodyPr wrap="square" lIns="73152" tIns="36576" rIns="73152" bIns="36576">
            <a:spAutoFit/>
          </a:bodyPr>
          <a:lstStyle/>
          <a:p>
            <a:pPr>
              <a:lnSpc>
                <a:spcPct val="115000"/>
              </a:lnSpc>
              <a:spcAft>
                <a:spcPts val="800"/>
              </a:spcAft>
            </a:pPr>
            <a:r>
              <a:rPr lang="en-IN" sz="2600" u="sng" kern="0" dirty="0">
                <a:solidFill>
                  <a:srgbClr val="000000"/>
                </a:solidFill>
                <a:latin typeface="Calibri" panose="020F0502020204030204" pitchFamily="34" charset="0"/>
                <a:ea typeface="Times New Roman" panose="02020603050405020304" pitchFamily="18" charset="0"/>
                <a:cs typeface="Calibri" panose="020F0502020204030204" pitchFamily="34" charset="0"/>
              </a:rPr>
              <a:t>Case Studies/Real-World Examples:</a:t>
            </a:r>
            <a:endParaRPr lang="en-IN" sz="2600" kern="1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Color-Based Object </a:t>
            </a:r>
            <a:r>
              <a:rPr lang="en-US"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Recognition</a:t>
            </a:r>
            <a:r>
              <a:rPr lang="en-IN" sz="2200" b="1" kern="0" dirty="0" smtClean="0">
                <a:solidFill>
                  <a:srgbClr val="FF0000"/>
                </a:solidFill>
                <a:latin typeface="Comic Sans MS" panose="030F0702030302020204" pitchFamily="66" charset="0"/>
                <a:ea typeface="Times New Roman" panose="02020603050405020304" pitchFamily="18" charset="0"/>
                <a:cs typeface="Comic Sans MS" panose="030F0702030302020204" pitchFamily="66" charset="0"/>
              </a:rPr>
              <a:t>: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Research in this area explores techniques for identifying objects based on their color characteristics.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These methods leverage color histograms, color spaces, and other color-based features to distinguish objects from their surroundings</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a:t>
            </a:r>
            <a:endParaRPr lang="en-IN" sz="2200" kern="1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Object Recognition Using Deep </a:t>
            </a:r>
            <a:r>
              <a:rPr lang="en-US"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Learning</a:t>
            </a:r>
            <a:r>
              <a:rPr lang="en-IN"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Deep learning approaches are widely used for object recognition. C</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onvolutional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Neural Networks (CNNs) are particularly effective in learning complex patterns and features from images, enabling them to identify objects with high accuracy</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a:t>
            </a:r>
            <a:endParaRPr lang="en-IN" sz="2200" kern="1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Color and Object Detection in </a:t>
            </a:r>
            <a:r>
              <a:rPr lang="en-US" sz="2200" b="1" kern="0"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Real-World: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Research</a:t>
            </a:r>
            <a:r>
              <a:rPr lang="en-US" sz="2400" dirty="0" smtClean="0">
                <a:solidFill>
                  <a:srgbClr val="E0E4E6"/>
                </a:solidFill>
                <a:latin typeface="Barlow" pitchFamily="34" charset="0"/>
                <a:ea typeface="Barlow" pitchFamily="34" charset="-122"/>
                <a:cs typeface="Barlow" pitchFamily="34" charset="-120"/>
              </a:rPr>
              <a:t>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investigates the integration of color and object detection techniques in real-world applications, such as autonomous driving, robotics, and medical imaging. This research focuses on improving the accuracy, robustness, and efficiency of these systems in diverse </a:t>
            </a:r>
            <a:r>
              <a:rPr lang="en-US" sz="2200" kern="0" dirty="0" smtClean="0">
                <a:latin typeface="Comic Sans MS" panose="030F0702030302020204" pitchFamily="66" charset="0"/>
                <a:ea typeface="Times New Roman" panose="02020603050405020304" pitchFamily="18" charset="0"/>
                <a:cs typeface="Comic Sans MS" panose="030F0702030302020204" pitchFamily="66" charset="0"/>
              </a:rPr>
              <a:t>environments</a:t>
            </a:r>
            <a:r>
              <a:rPr lang="en-US" sz="2400" dirty="0" smtClean="0">
                <a:solidFill>
                  <a:srgbClr val="E0E4E6"/>
                </a:solidFill>
                <a:latin typeface="Barlow" pitchFamily="34" charset="0"/>
                <a:ea typeface="Barlow" pitchFamily="34" charset="-122"/>
                <a:cs typeface="Comic Sans MS" panose="030F0702030302020204" pitchFamily="66" charset="0"/>
              </a:rPr>
              <a:t>.</a:t>
            </a:r>
            <a:endParaRPr lang="en-IN" sz="2200" kern="100" dirty="0">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14" name="Picture 13" descr="C:\Users\MOHIT\Desktop\logo-icon.png">
            <a:extLst>
              <a:ext uri="{FF2B5EF4-FFF2-40B4-BE49-F238E27FC236}">
                <a16:creationId xmlns:a16="http://schemas.microsoft.com/office/drawing/2014/main" xmlns="" id="{C9FE9E67-7119-EE93-21B6-D23B304302CE}"/>
              </a:ext>
            </a:extLst>
          </p:cNvPr>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 y="26006"/>
            <a:ext cx="2072640" cy="1518610"/>
          </a:xfrm>
          <a:prstGeom prst="rect">
            <a:avLst/>
          </a:prstGeom>
          <a:noFill/>
          <a:ln w="9525">
            <a:noFill/>
            <a:miter lim="800000"/>
            <a:headEnd/>
            <a:tailEnd/>
          </a:ln>
        </p:spPr>
      </p:pic>
      <p:pic>
        <p:nvPicPr>
          <p:cNvPr id="15" name="Picture 14">
            <a:extLst>
              <a:ext uri="{FF2B5EF4-FFF2-40B4-BE49-F238E27FC236}">
                <a16:creationId xmlns:a16="http://schemas.microsoft.com/office/drawing/2014/main" xmlns="" id="{57AC3AD7-F120-0A97-2CFE-4AB1FDA11489}"/>
              </a:ext>
            </a:extLst>
          </p:cNvPr>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12984480" y="6284"/>
            <a:ext cx="1645920" cy="1462874"/>
          </a:xfrm>
          <a:prstGeom prst="rect">
            <a:avLst/>
          </a:prstGeom>
          <a:ln>
            <a:solidFill>
              <a:schemeClr val="bg1"/>
            </a:solidFill>
          </a:ln>
        </p:spPr>
      </p:pic>
      <p:pic>
        <p:nvPicPr>
          <p:cNvPr id="10" name="Picture 9" descr="fpsyg-13-1039645-g009.jpg"/>
          <p:cNvPicPr>
            <a:picLocks noChangeAspect="1"/>
          </p:cNvPicPr>
          <p:nvPr/>
        </p:nvPicPr>
        <p:blipFill>
          <a:blip r:embed="rId8"/>
          <a:stretch>
            <a:fillRect/>
          </a:stretch>
        </p:blipFill>
        <p:spPr>
          <a:xfrm>
            <a:off x="216976" y="2167886"/>
            <a:ext cx="4833928" cy="4141475"/>
          </a:xfrm>
          <a:prstGeom prst="rect">
            <a:avLst/>
          </a:prstGeom>
        </p:spPr>
      </p:pic>
    </p:spTree>
    <p:extLst>
      <p:ext uri="{BB962C8B-B14F-4D97-AF65-F5344CB8AC3E}">
        <p14:creationId xmlns:p14="http://schemas.microsoft.com/office/powerpoint/2010/main" xmlns="" val="3180255581"/>
      </p:ext>
    </p:extLst>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CEC81DA-E3AE-28E4-7858-BCE1156A3168}"/>
            </a:ext>
          </a:extLst>
        </p:cNvPr>
        <p:cNvGrpSpPr/>
        <p:nvPr/>
      </p:nvGrpSpPr>
      <p:grpSpPr>
        <a:xfrm>
          <a:off x="0" y="0"/>
          <a:ext cx="0" cy="0"/>
          <a:chOff x="0" y="0"/>
          <a:chExt cx="0" cy="0"/>
        </a:xfrm>
      </p:grpSpPr>
      <p:sp>
        <p:nvSpPr>
          <p:cNvPr id="16" name="Freeform 14"/>
          <p:cNvSpPr/>
          <p:nvPr/>
        </p:nvSpPr>
        <p:spPr>
          <a:xfrm>
            <a:off x="2011681" y="8037"/>
            <a:ext cx="1024046" cy="822960"/>
          </a:xfrm>
          <a:custGeom>
            <a:avLst/>
            <a:gdLst/>
            <a:ahLst/>
            <a:cxnLst/>
            <a:rect l="l" t="t" r="r" b="b"/>
            <a:pathLst>
              <a:path w="1280057" h="1028700">
                <a:moveTo>
                  <a:pt x="0" y="0"/>
                </a:moveTo>
                <a:lnTo>
                  <a:pt x="1280057" y="0"/>
                </a:lnTo>
                <a:lnTo>
                  <a:pt x="1280057" y="1028700"/>
                </a:lnTo>
                <a:lnTo>
                  <a:pt x="0" y="1028700"/>
                </a:lnTo>
                <a:lnTo>
                  <a:pt x="0" y="0"/>
                </a:lnTo>
                <a:close/>
              </a:path>
            </a:pathLst>
          </a:custGeom>
          <a:blipFill>
            <a:blip r:embed="rId2" cstate="print">
              <a:extLst>
                <a:ext uri="{96DAC541-7B7A-43D3-8B79-37D633B846F1}">
                  <asvg:svgBlip xmlns:asvg="http://schemas.microsoft.com/office/drawing/2016/SVG/main" xmlns="" r:embed="rId5"/>
                </a:ext>
              </a:extLst>
            </a:blip>
            <a:stretch>
              <a:fillRect/>
            </a:stretch>
          </a:blipFill>
        </p:spPr>
      </p:sp>
      <p:sp>
        <p:nvSpPr>
          <p:cNvPr id="17" name="Freeform 4">
            <a:extLst>
              <a:ext uri="{FF2B5EF4-FFF2-40B4-BE49-F238E27FC236}">
                <a16:creationId xmlns:a16="http://schemas.microsoft.com/office/drawing/2014/main" xmlns="" id="{16BA8C87-F880-22A9-320D-61527D4BED5B}"/>
              </a:ext>
            </a:extLst>
          </p:cNvPr>
          <p:cNvSpPr/>
          <p:nvPr/>
        </p:nvSpPr>
        <p:spPr>
          <a:xfrm>
            <a:off x="12428106" y="6295399"/>
            <a:ext cx="1934362" cy="1849954"/>
          </a:xfrm>
          <a:custGeom>
            <a:avLst/>
            <a:gdLst/>
            <a:ahLst/>
            <a:cxnLst/>
            <a:rect l="l" t="t" r="r" b="b"/>
            <a:pathLst>
              <a:path w="2417953" h="2312443">
                <a:moveTo>
                  <a:pt x="0" y="0"/>
                </a:moveTo>
                <a:lnTo>
                  <a:pt x="2417953" y="0"/>
                </a:lnTo>
                <a:lnTo>
                  <a:pt x="2417953" y="2312442"/>
                </a:lnTo>
                <a:lnTo>
                  <a:pt x="0" y="231244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pic>
        <p:nvPicPr>
          <p:cNvPr id="18" name="Picture 17" descr="C:\Users\MOHIT\Desktop\logo-icon.png">
            <a:extLst>
              <a:ext uri="{FF2B5EF4-FFF2-40B4-BE49-F238E27FC236}">
                <a16:creationId xmlns:a16="http://schemas.microsoft.com/office/drawing/2014/main" xmlns="" id="{5A5FC833-E264-B572-6164-797D09813BFB}"/>
              </a:ext>
            </a:extLst>
          </p:cNvPr>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1" y="0"/>
            <a:ext cx="2011680" cy="1469158"/>
          </a:xfrm>
          <a:prstGeom prst="rect">
            <a:avLst/>
          </a:prstGeom>
          <a:noFill/>
          <a:ln w="9525">
            <a:noFill/>
            <a:miter lim="800000"/>
            <a:headEnd/>
            <a:tailEnd/>
          </a:ln>
        </p:spPr>
      </p:pic>
      <p:pic>
        <p:nvPicPr>
          <p:cNvPr id="19" name="Picture 18">
            <a:extLst>
              <a:ext uri="{FF2B5EF4-FFF2-40B4-BE49-F238E27FC236}">
                <a16:creationId xmlns:a16="http://schemas.microsoft.com/office/drawing/2014/main" xmlns="" id="{54068944-C46B-EFE6-9779-6B8D09318471}"/>
              </a:ext>
            </a:extLst>
          </p:cNvPr>
          <p:cNvPicPr>
            <a:picLocks noChangeAspect="1"/>
          </p:cNvPicPr>
          <p:nvPr/>
        </p:nvPicPr>
        <p:blipFill>
          <a:blip r:embed="rId9">
            <a:extLst>
              <a:ext uri="{28A0092B-C50C-407E-A947-70E740481C1C}">
                <a14:useLocalDpi xmlns:a14="http://schemas.microsoft.com/office/drawing/2010/main" xmlns="" val="0"/>
              </a:ext>
            </a:extLst>
          </a:blip>
          <a:stretch>
            <a:fillRect/>
          </a:stretch>
        </p:blipFill>
        <p:spPr>
          <a:xfrm>
            <a:off x="12984480" y="6284"/>
            <a:ext cx="1645920" cy="1462874"/>
          </a:xfrm>
          <a:prstGeom prst="rect">
            <a:avLst/>
          </a:prstGeom>
          <a:ln>
            <a:solidFill>
              <a:schemeClr val="bg1"/>
            </a:solidFill>
          </a:ln>
        </p:spPr>
      </p:pic>
      <p:pic>
        <p:nvPicPr>
          <p:cNvPr id="8" name="Picture 7" descr="compvision_tasks.png"/>
          <p:cNvPicPr>
            <a:picLocks noChangeAspect="1"/>
          </p:cNvPicPr>
          <p:nvPr/>
        </p:nvPicPr>
        <p:blipFill>
          <a:blip r:embed="rId10"/>
          <a:stretch>
            <a:fillRect/>
          </a:stretch>
        </p:blipFill>
        <p:spPr>
          <a:xfrm>
            <a:off x="2621280" y="830997"/>
            <a:ext cx="9387840" cy="3836473"/>
          </a:xfrm>
          <a:prstGeom prst="rect">
            <a:avLst/>
          </a:prstGeom>
        </p:spPr>
      </p:pic>
      <p:sp>
        <p:nvSpPr>
          <p:cNvPr id="9" name="TextBox 8"/>
          <p:cNvSpPr txBox="1"/>
          <p:nvPr/>
        </p:nvSpPr>
        <p:spPr>
          <a:xfrm>
            <a:off x="4014061" y="0"/>
            <a:ext cx="6896746" cy="830997"/>
          </a:xfrm>
          <a:prstGeom prst="rect">
            <a:avLst/>
          </a:prstGeom>
          <a:noFill/>
        </p:spPr>
        <p:txBody>
          <a:bodyPr wrap="square" rtlCol="0">
            <a:spAutoFit/>
          </a:bodyPr>
          <a:lstStyle/>
          <a:p>
            <a:pPr algn="ctr"/>
            <a:r>
              <a:rPr lang="en-US" sz="4800" b="1" u="sng" kern="0" dirty="0" smtClean="0">
                <a:solidFill>
                  <a:srgbClr val="000000"/>
                </a:solidFill>
                <a:latin typeface="Calibri" panose="020F0502020204030204" pitchFamily="34" charset="0"/>
                <a:ea typeface="Times New Roman" panose="02020603050405020304" pitchFamily="18" charset="0"/>
                <a:cs typeface="Calibri" panose="020F0502020204030204" pitchFamily="34" charset="0"/>
              </a:rPr>
              <a:t>How does it works?</a:t>
            </a:r>
            <a:endParaRPr lang="en-US" sz="4800" b="1" u="sng" kern="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10" name="Picture 9" descr="Untitled.png"/>
          <p:cNvPicPr>
            <a:picLocks noChangeAspect="1"/>
          </p:cNvPicPr>
          <p:nvPr/>
        </p:nvPicPr>
        <p:blipFill>
          <a:blip r:embed="rId11"/>
          <a:stretch>
            <a:fillRect/>
          </a:stretch>
        </p:blipFill>
        <p:spPr>
          <a:xfrm>
            <a:off x="2621280" y="4438121"/>
            <a:ext cx="9387840" cy="3791479"/>
          </a:xfrm>
          <a:prstGeom prst="rect">
            <a:avLst/>
          </a:prstGeom>
        </p:spPr>
      </p:pic>
    </p:spTree>
    <p:extLst>
      <p:ext uri="{BB962C8B-B14F-4D97-AF65-F5344CB8AC3E}">
        <p14:creationId xmlns:p14="http://schemas.microsoft.com/office/powerpoint/2010/main" xmlns="" val="1906195330"/>
      </p:ext>
    </p:extLst>
  </p:cSld>
  <p:clrMapOvr>
    <a:masterClrMapping/>
  </p:clrMapOvr>
  <p:transition>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3448CE-8728-C79B-D272-999E215A9261}"/>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xmlns="" id="{96B33600-CA83-2627-FFF5-0172E8C844E2}"/>
              </a:ext>
            </a:extLst>
          </p:cNvPr>
          <p:cNvSpPr/>
          <p:nvPr/>
        </p:nvSpPr>
        <p:spPr>
          <a:xfrm>
            <a:off x="12696038" y="6398987"/>
            <a:ext cx="1934362" cy="1835993"/>
          </a:xfrm>
          <a:custGeom>
            <a:avLst/>
            <a:gdLst/>
            <a:ahLst/>
            <a:cxnLst/>
            <a:rect l="l" t="t" r="r" b="b"/>
            <a:pathLst>
              <a:path w="2417953" h="2312443">
                <a:moveTo>
                  <a:pt x="0" y="0"/>
                </a:moveTo>
                <a:lnTo>
                  <a:pt x="2417953" y="0"/>
                </a:lnTo>
                <a:lnTo>
                  <a:pt x="2417953" y="2312442"/>
                </a:lnTo>
                <a:lnTo>
                  <a:pt x="0" y="2312442"/>
                </a:lnTo>
                <a:lnTo>
                  <a:pt x="0" y="0"/>
                </a:lnTo>
                <a:close/>
              </a:path>
            </a:pathLst>
          </a:custGeom>
          <a:blipFill>
            <a:blip r:embed="rId2">
              <a:extLst>
                <a:ext uri="{96DAC541-7B7A-43D3-8B79-37D633B846F1}">
                  <asvg:svgBlip xmlns:asvg="http://schemas.microsoft.com/office/drawing/2016/SVG/main" xmlns="" r:embed="rId6"/>
                </a:ext>
              </a:extLst>
            </a:blip>
            <a:stretch>
              <a:fillRect/>
            </a:stretch>
          </a:blipFill>
        </p:spPr>
      </p:sp>
      <p:pic>
        <p:nvPicPr>
          <p:cNvPr id="6" name="Picture 5" descr="fpsyg-13-1039645-g004.jpg"/>
          <p:cNvPicPr>
            <a:picLocks noChangeAspect="1"/>
          </p:cNvPicPr>
          <p:nvPr/>
        </p:nvPicPr>
        <p:blipFill>
          <a:blip r:embed="rId7"/>
          <a:stretch>
            <a:fillRect/>
          </a:stretch>
        </p:blipFill>
        <p:spPr>
          <a:xfrm>
            <a:off x="0" y="4269827"/>
            <a:ext cx="7098224" cy="3965154"/>
          </a:xfrm>
          <a:prstGeom prst="rect">
            <a:avLst/>
          </a:prstGeom>
        </p:spPr>
      </p:pic>
      <p:pic>
        <p:nvPicPr>
          <p:cNvPr id="7" name="Picture 6" descr="fpsyg-13-1039645-g005.jpg"/>
          <p:cNvPicPr>
            <a:picLocks noChangeAspect="1"/>
          </p:cNvPicPr>
          <p:nvPr/>
        </p:nvPicPr>
        <p:blipFill>
          <a:blip r:embed="rId8"/>
          <a:stretch>
            <a:fillRect/>
          </a:stretch>
        </p:blipFill>
        <p:spPr>
          <a:xfrm>
            <a:off x="7315200" y="0"/>
            <a:ext cx="7315200" cy="2139869"/>
          </a:xfrm>
          <a:prstGeom prst="rect">
            <a:avLst/>
          </a:prstGeom>
        </p:spPr>
      </p:pic>
      <p:pic>
        <p:nvPicPr>
          <p:cNvPr id="8" name="Picture 7" descr="fpsyg-13-1039645-g008.jpg"/>
          <p:cNvPicPr>
            <a:picLocks noChangeAspect="1"/>
          </p:cNvPicPr>
          <p:nvPr/>
        </p:nvPicPr>
        <p:blipFill>
          <a:blip r:embed="rId9"/>
          <a:stretch>
            <a:fillRect/>
          </a:stretch>
        </p:blipFill>
        <p:spPr>
          <a:xfrm>
            <a:off x="0" y="0"/>
            <a:ext cx="7098224" cy="2129958"/>
          </a:xfrm>
          <a:prstGeom prst="rect">
            <a:avLst/>
          </a:prstGeom>
        </p:spPr>
      </p:pic>
      <p:pic>
        <p:nvPicPr>
          <p:cNvPr id="9" name="Picture 8" descr="fpsyg-13-1039645-g006.jpg"/>
          <p:cNvPicPr>
            <a:picLocks noChangeAspect="1"/>
          </p:cNvPicPr>
          <p:nvPr/>
        </p:nvPicPr>
        <p:blipFill>
          <a:blip r:embed="rId10"/>
          <a:stretch>
            <a:fillRect/>
          </a:stretch>
        </p:blipFill>
        <p:spPr>
          <a:xfrm>
            <a:off x="7166298" y="4269826"/>
            <a:ext cx="5529740" cy="3959774"/>
          </a:xfrm>
          <a:prstGeom prst="rect">
            <a:avLst/>
          </a:prstGeom>
        </p:spPr>
      </p:pic>
      <p:pic>
        <p:nvPicPr>
          <p:cNvPr id="12" name="Picture 11" descr="fpsyg-13-1039645-g003.jpg"/>
          <p:cNvPicPr>
            <a:picLocks noChangeAspect="1"/>
          </p:cNvPicPr>
          <p:nvPr/>
        </p:nvPicPr>
        <p:blipFill>
          <a:blip r:embed="rId11"/>
          <a:stretch>
            <a:fillRect/>
          </a:stretch>
        </p:blipFill>
        <p:spPr>
          <a:xfrm>
            <a:off x="782664" y="2191117"/>
            <a:ext cx="12762855" cy="2030625"/>
          </a:xfrm>
          <a:prstGeom prst="rect">
            <a:avLst/>
          </a:prstGeom>
        </p:spPr>
      </p:pic>
    </p:spTree>
    <p:extLst>
      <p:ext uri="{BB962C8B-B14F-4D97-AF65-F5344CB8AC3E}">
        <p14:creationId xmlns:p14="http://schemas.microsoft.com/office/powerpoint/2010/main" xmlns="" val="2394772555"/>
      </p:ext>
    </p:extLst>
  </p:cSld>
  <p:clrMapOvr>
    <a:masterClrMapping/>
  </p:clrMapOvr>
  <p:transition>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xmlns="" id="{DC8DEA39-9929-46A9-C39E-B7B39C0867D7}"/>
              </a:ext>
            </a:extLst>
          </p:cNvPr>
          <p:cNvSpPr txBox="1"/>
          <p:nvPr/>
        </p:nvSpPr>
        <p:spPr>
          <a:xfrm>
            <a:off x="0" y="914400"/>
            <a:ext cx="14630400" cy="8506944"/>
          </a:xfrm>
          <a:prstGeom prst="rect">
            <a:avLst/>
          </a:prstGeom>
          <a:noFill/>
        </p:spPr>
        <p:txBody>
          <a:bodyPr wrap="square" lIns="73152" tIns="36576" rIns="73152" bIns="36576" rtlCol="0">
            <a:spAutoFit/>
          </a:bodyPr>
          <a:lstStyle/>
          <a:p>
            <a:pPr algn="ctr">
              <a:lnSpc>
                <a:spcPts val="2994"/>
              </a:lnSpc>
              <a:spcBef>
                <a:spcPct val="0"/>
              </a:spcBef>
            </a:pPr>
            <a:r>
              <a:rPr lang="en-US" sz="3200" b="1" u="sng" dirty="0">
                <a:latin typeface="Arial Rounded MT Bold" panose="020F0704030504030204" pitchFamily="34" charset="0"/>
                <a:ea typeface="Open Sans Bold"/>
                <a:cs typeface="Open Sans Bold"/>
                <a:sym typeface="Open Sans Bold"/>
              </a:rPr>
              <a:t>Latest technologies used </a:t>
            </a:r>
            <a:endParaRPr lang="en-US" sz="2600" b="1" u="sng" dirty="0">
              <a:latin typeface="Arial Rounded MT Bold" panose="020F0704030504030204" pitchFamily="34" charset="0"/>
              <a:ea typeface="Open Sans Bold"/>
              <a:cs typeface="Open Sans Bold"/>
              <a:sym typeface="Open Sans Bold"/>
            </a:endParaRPr>
          </a:p>
          <a:p>
            <a:pPr>
              <a:lnSpc>
                <a:spcPts val="2994"/>
              </a:lnSpc>
              <a:spcBef>
                <a:spcPct val="0"/>
              </a:spcBef>
            </a:pPr>
            <a:endParaRPr lang="en-US" sz="2600" b="1" dirty="0">
              <a:latin typeface="Arial Rounded MT Bold" panose="020F0704030504030204" pitchFamily="34" charset="0"/>
              <a:ea typeface="Open Sans Bold"/>
              <a:cs typeface="Open Sans Bold"/>
              <a:sym typeface="Open Sans Bold"/>
            </a:endParaRPr>
          </a:p>
          <a:p>
            <a:pPr lvl="1">
              <a:lnSpc>
                <a:spcPct val="150000"/>
              </a:lnSpc>
              <a:spcBef>
                <a:spcPct val="0"/>
              </a:spcBef>
            </a:pPr>
            <a:r>
              <a:rPr lang="en-US" sz="2600" b="1" dirty="0">
                <a:latin typeface="Arial Rounded MT Bold" panose="020F0704030504030204" pitchFamily="34" charset="0"/>
                <a:ea typeface="Open Sans Bold"/>
                <a:cs typeface="Open Sans Bold"/>
                <a:sym typeface="Open Sans Bold"/>
              </a:rPr>
              <a:t>     </a:t>
            </a:r>
            <a:r>
              <a:rPr lang="en-US" sz="2600" b="1" dirty="0" smtClean="0">
                <a:solidFill>
                  <a:srgbClr val="FF0000"/>
                </a:solidFill>
                <a:latin typeface="Arial Rounded MT Bold" panose="020F0704030504030204" pitchFamily="34" charset="0"/>
                <a:ea typeface="Open Sans Bold"/>
                <a:cs typeface="Open Sans Bold"/>
                <a:sym typeface="Open Sans Bold"/>
              </a:rPr>
              <a:t>Color and Object Detection System:</a:t>
            </a:r>
            <a:endParaRPr lang="en-US" sz="2600" b="1" dirty="0">
              <a:solidFill>
                <a:srgbClr val="FF0000"/>
              </a:solidFill>
              <a:latin typeface="Arial Rounded MT Bold" panose="020F0704030504030204" pitchFamily="34" charset="0"/>
              <a:ea typeface="Open Sans Bold"/>
              <a:cs typeface="Open Sans Bold"/>
              <a:sym typeface="Open Sans Bold"/>
            </a:endParaRPr>
          </a:p>
          <a:p>
            <a:pPr lvl="2">
              <a:lnSpc>
                <a:spcPct val="150000"/>
              </a:lnSpc>
              <a:spcBef>
                <a:spcPct val="0"/>
              </a:spcBef>
            </a:pPr>
            <a:r>
              <a:rPr lang="en-US" sz="2600" b="1" dirty="0" smtClean="0">
                <a:solidFill>
                  <a:srgbClr val="FF0000"/>
                </a:solidFill>
                <a:latin typeface="Arial Rounded MT Bold" panose="020F0704030504030204" pitchFamily="34" charset="0"/>
                <a:ea typeface="Open Sans Bold"/>
                <a:cs typeface="Open Sans Bold"/>
                <a:sym typeface="Open Sans Bold"/>
              </a:rPr>
              <a:t>Python </a:t>
            </a:r>
            <a:r>
              <a:rPr lang="en-US" sz="2600" b="1" dirty="0" smtClean="0">
                <a:latin typeface="Arial Rounded MT Bold" panose="020F0704030504030204" pitchFamily="34" charset="0"/>
                <a:ea typeface="Open Sans Bold"/>
                <a:cs typeface="Open Sans Bold"/>
                <a:sym typeface="Open Sans Bold"/>
              </a:rPr>
              <a:t>– It is </a:t>
            </a:r>
            <a:r>
              <a:rPr lang="en-US" sz="2600" b="1" dirty="0" smtClean="0">
                <a:latin typeface="Arial Rounded MT Bold" panose="020F0704030504030204" pitchFamily="34" charset="0"/>
                <a:ea typeface="Open Sans Bold"/>
                <a:cs typeface="Open Sans Bold"/>
                <a:sym typeface="Open Sans Bold"/>
              </a:rPr>
              <a:t>the primary programming language used for this project</a:t>
            </a:r>
            <a:r>
              <a:rPr lang="en-US" sz="2800" dirty="0" smtClean="0">
                <a:solidFill>
                  <a:srgbClr val="CFCBBF"/>
                </a:solidFill>
                <a:latin typeface="Raleway" pitchFamily="34" charset="0"/>
                <a:ea typeface="Raleway" pitchFamily="34" charset="-122"/>
                <a:cs typeface="Raleway" pitchFamily="34" charset="-120"/>
              </a:rPr>
              <a:t>. </a:t>
            </a:r>
            <a:r>
              <a:rPr lang="en-US" sz="2600" b="1" dirty="0" smtClean="0">
                <a:latin typeface="Arial Rounded MT Bold" panose="020F0704030504030204" pitchFamily="34" charset="0"/>
                <a:ea typeface="Open Sans Bold"/>
                <a:cs typeface="Open Sans Bold"/>
                <a:sym typeface="Open Sans Bold"/>
              </a:rPr>
              <a:t>Its </a:t>
            </a:r>
            <a:r>
              <a:rPr lang="en-US" sz="2600" b="1" dirty="0" smtClean="0">
                <a:latin typeface="Arial Rounded MT Bold" panose="020F0704030504030204" pitchFamily="34" charset="0"/>
                <a:ea typeface="Open Sans Bold"/>
                <a:cs typeface="Open Sans Bold"/>
                <a:sym typeface="Open Sans Bold"/>
              </a:rPr>
              <a:t>versatility and extensive libraries make it ideal </a:t>
            </a:r>
            <a:r>
              <a:rPr lang="en-US" sz="2600" b="1" dirty="0" smtClean="0">
                <a:latin typeface="Arial Rounded MT Bold" panose="020F0704030504030204" pitchFamily="34" charset="0"/>
                <a:ea typeface="Open Sans Bold"/>
                <a:cs typeface="Open Sans Bold"/>
                <a:sym typeface="Open Sans Bold"/>
              </a:rPr>
              <a:t>for </a:t>
            </a:r>
            <a:r>
              <a:rPr lang="en-US" sz="2600" b="1" dirty="0" smtClean="0">
                <a:latin typeface="Arial Rounded MT Bold" panose="020F0704030504030204" pitchFamily="34" charset="0"/>
                <a:ea typeface="Open Sans Bold"/>
                <a:cs typeface="Open Sans Bold"/>
                <a:sym typeface="Open Sans Bold"/>
              </a:rPr>
              <a:t>developing computer vision </a:t>
            </a:r>
            <a:r>
              <a:rPr lang="en-US" sz="2600" b="1" dirty="0" smtClean="0">
                <a:latin typeface="Arial Rounded MT Bold" panose="020F0704030504030204" pitchFamily="34" charset="0"/>
                <a:ea typeface="Open Sans Bold"/>
                <a:cs typeface="Open Sans Bold"/>
                <a:sym typeface="Open Sans Bold"/>
              </a:rPr>
              <a:t>applications.</a:t>
            </a:r>
            <a:endParaRPr lang="en-US" sz="2600" b="1" dirty="0">
              <a:latin typeface="Arial Rounded MT Bold" panose="020F0704030504030204" pitchFamily="34" charset="0"/>
              <a:ea typeface="Open Sans Bold"/>
              <a:cs typeface="Open Sans Bold"/>
              <a:sym typeface="Open Sans Bold"/>
            </a:endParaRPr>
          </a:p>
          <a:p>
            <a:pPr lvl="2">
              <a:lnSpc>
                <a:spcPct val="150000"/>
              </a:lnSpc>
              <a:spcBef>
                <a:spcPct val="0"/>
              </a:spcBef>
            </a:pPr>
            <a:r>
              <a:rPr lang="en-US" sz="2600" b="1" dirty="0" smtClean="0">
                <a:solidFill>
                  <a:srgbClr val="FF0000"/>
                </a:solidFill>
                <a:latin typeface="Arial Rounded MT Bold" panose="020F0704030504030204" pitchFamily="34" charset="0"/>
                <a:ea typeface="Open Sans Bold"/>
                <a:cs typeface="Open Sans Bold"/>
                <a:sym typeface="Open Sans Bold"/>
              </a:rPr>
              <a:t>OpenCV</a:t>
            </a:r>
            <a:r>
              <a:rPr lang="en-US" sz="2600" b="1" dirty="0" smtClean="0">
                <a:latin typeface="Arial Rounded MT Bold" panose="020F0704030504030204" pitchFamily="34" charset="0"/>
                <a:ea typeface="Open Sans Bold"/>
                <a:cs typeface="Open Sans Bold"/>
                <a:sym typeface="Open Sans Bold"/>
              </a:rPr>
              <a:t> – </a:t>
            </a:r>
            <a:r>
              <a:rPr lang="en-US" sz="2600" b="1" dirty="0" smtClean="0">
                <a:latin typeface="Arial Rounded MT Bold" panose="020F0704030504030204" pitchFamily="34" charset="0"/>
                <a:ea typeface="Open Sans Bold"/>
                <a:cs typeface="Open Sans Bold"/>
                <a:sym typeface="Open Sans Bold"/>
              </a:rPr>
              <a:t>Supports multiple programming languages and platforms, making it versatile for developers</a:t>
            </a:r>
            <a:r>
              <a:rPr lang="en-US" sz="2800" dirty="0" smtClean="0"/>
              <a:t>.</a:t>
            </a:r>
            <a:endParaRPr lang="en-US" sz="2600" b="1" dirty="0">
              <a:latin typeface="Arial Rounded MT Bold" panose="020F0704030504030204" pitchFamily="34" charset="0"/>
              <a:ea typeface="Open Sans Bold"/>
              <a:cs typeface="Open Sans Bold"/>
              <a:sym typeface="Open Sans Bold"/>
            </a:endParaRPr>
          </a:p>
          <a:p>
            <a:pPr lvl="2">
              <a:lnSpc>
                <a:spcPct val="150000"/>
              </a:lnSpc>
              <a:spcBef>
                <a:spcPct val="0"/>
              </a:spcBef>
            </a:pPr>
            <a:r>
              <a:rPr lang="en-US" sz="2600" b="1" dirty="0" smtClean="0">
                <a:solidFill>
                  <a:srgbClr val="FF0000"/>
                </a:solidFill>
                <a:latin typeface="Arial Rounded MT Bold" panose="020F0704030504030204" pitchFamily="34" charset="0"/>
                <a:ea typeface="Open Sans Bold"/>
                <a:cs typeface="Open Sans Bold"/>
                <a:sym typeface="Open Sans Bold"/>
              </a:rPr>
              <a:t>Numpy</a:t>
            </a:r>
            <a:r>
              <a:rPr lang="en-US" sz="2800" dirty="0" smtClean="0">
                <a:solidFill>
                  <a:srgbClr val="E0E4E6"/>
                </a:solidFill>
                <a:latin typeface="Barlow" pitchFamily="34" charset="0"/>
                <a:ea typeface="Barlow" pitchFamily="34" charset="-122"/>
                <a:cs typeface="Barlow" pitchFamily="34" charset="-120"/>
              </a:rPr>
              <a:t> </a:t>
            </a:r>
            <a:r>
              <a:rPr lang="en-US" sz="2600" b="1" dirty="0" smtClean="0">
                <a:latin typeface="Arial Rounded MT Bold" panose="020F0704030504030204" pitchFamily="34" charset="0"/>
                <a:ea typeface="Open Sans Bold"/>
                <a:cs typeface="Open Sans Bold"/>
                <a:sym typeface="Open Sans Bold"/>
              </a:rPr>
              <a:t>- </a:t>
            </a:r>
            <a:r>
              <a:rPr lang="en-US" sz="2800" dirty="0" smtClean="0">
                <a:solidFill>
                  <a:srgbClr val="E0E4E6"/>
                </a:solidFill>
                <a:latin typeface="Barlow" pitchFamily="34" charset="0"/>
                <a:ea typeface="Barlow" pitchFamily="34" charset="-122"/>
                <a:cs typeface="Barlow" pitchFamily="34" charset="-120"/>
              </a:rPr>
              <a:t>: </a:t>
            </a:r>
            <a:r>
              <a:rPr lang="en-US" sz="2600" b="1" dirty="0" smtClean="0">
                <a:latin typeface="Arial Rounded MT Bold" panose="020F0704030504030204" pitchFamily="34" charset="0"/>
                <a:ea typeface="Open Sans Bold"/>
                <a:cs typeface="Open Sans Bold"/>
                <a:sym typeface="Open Sans Bold"/>
              </a:rPr>
              <a:t>A fundamental library for numerical computation, providing support for multi-dimensional arrays and mathematical operations essential for image manipulation.</a:t>
            </a:r>
          </a:p>
          <a:p>
            <a:pPr lvl="2">
              <a:lnSpc>
                <a:spcPct val="150000"/>
              </a:lnSpc>
              <a:spcBef>
                <a:spcPct val="0"/>
              </a:spcBef>
            </a:pPr>
            <a:r>
              <a:rPr lang="en-US" sz="2600" b="1" dirty="0" smtClean="0">
                <a:solidFill>
                  <a:srgbClr val="FF0000"/>
                </a:solidFill>
                <a:latin typeface="Arial Rounded MT Bold" panose="020F0704030504030204" pitchFamily="34" charset="0"/>
                <a:ea typeface="Open Sans Bold"/>
                <a:cs typeface="Open Sans Bold"/>
                <a:sym typeface="Open Sans Bold"/>
              </a:rPr>
              <a:t>Tkinter</a:t>
            </a:r>
            <a:r>
              <a:rPr lang="en-US" sz="2800" dirty="0" smtClean="0">
                <a:solidFill>
                  <a:srgbClr val="E0E4E6"/>
                </a:solidFill>
                <a:latin typeface="Barlow" pitchFamily="34" charset="0"/>
                <a:ea typeface="Barlow" pitchFamily="34" charset="-122"/>
                <a:cs typeface="Barlow" pitchFamily="34" charset="-120"/>
              </a:rPr>
              <a:t>: </a:t>
            </a:r>
            <a:r>
              <a:rPr lang="en-US" sz="2600" b="1" dirty="0" smtClean="0">
                <a:latin typeface="Arial Rounded MT Bold" panose="020F0704030504030204" pitchFamily="34" charset="0"/>
                <a:ea typeface="Open Sans Bold"/>
                <a:cs typeface="Open Sans Bold"/>
                <a:sym typeface="Open Sans Bold"/>
              </a:rPr>
              <a:t>A standard Python GUI toolkit, enabling the creation of user interfaces for interacting with the object detection system.</a:t>
            </a:r>
            <a:endParaRPr lang="en-US" sz="2600" b="1" dirty="0" smtClean="0">
              <a:latin typeface="Arial Rounded MT Bold" panose="020F0704030504030204" pitchFamily="34" charset="0"/>
              <a:ea typeface="Open Sans Bold"/>
              <a:cs typeface="Open Sans Bold"/>
              <a:sym typeface="Open Sans Bold"/>
            </a:endParaRPr>
          </a:p>
          <a:p>
            <a:pPr lvl="2">
              <a:lnSpc>
                <a:spcPct val="150000"/>
              </a:lnSpc>
              <a:spcBef>
                <a:spcPct val="0"/>
              </a:spcBef>
            </a:pPr>
            <a:endParaRPr lang="en-US" sz="2600" b="1" dirty="0" smtClean="0">
              <a:latin typeface="Arial Rounded MT Bold" panose="020F0704030504030204" pitchFamily="34" charset="0"/>
              <a:ea typeface="Open Sans Bold"/>
              <a:cs typeface="Open Sans Bold"/>
              <a:sym typeface="Open Sans Bold"/>
            </a:endParaRPr>
          </a:p>
          <a:p>
            <a:pPr lvl="2">
              <a:lnSpc>
                <a:spcPct val="150000"/>
              </a:lnSpc>
              <a:spcBef>
                <a:spcPct val="0"/>
              </a:spcBef>
            </a:pPr>
            <a:endParaRPr lang="en-US" sz="2600" b="1" dirty="0">
              <a:latin typeface="Arial Rounded MT Bold" panose="020F0704030504030204" pitchFamily="34" charset="0"/>
              <a:ea typeface="Open Sans Bold"/>
              <a:cs typeface="Open Sans Bold"/>
              <a:sym typeface="Open Sans Bold"/>
            </a:endParaRPr>
          </a:p>
          <a:p>
            <a:endParaRPr lang="en-IN" b="1" dirty="0">
              <a:latin typeface="Arial Rounded MT Bold" panose="020F0704030504030204" pitchFamily="34" charset="0"/>
            </a:endParaRPr>
          </a:p>
        </p:txBody>
      </p:sp>
      <p:pic>
        <p:nvPicPr>
          <p:cNvPr id="2" name="Picture 1" descr="C:\Users\MOHIT\Desktop\logo-icon.png">
            <a:extLst>
              <a:ext uri="{FF2B5EF4-FFF2-40B4-BE49-F238E27FC236}">
                <a16:creationId xmlns:a16="http://schemas.microsoft.com/office/drawing/2014/main" xmlns="" id="{06DA730D-EEC2-6BB8-1446-739E2115AE96}"/>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290" y="12567"/>
            <a:ext cx="2119271" cy="1825099"/>
          </a:xfrm>
          <a:prstGeom prst="rect">
            <a:avLst/>
          </a:prstGeom>
          <a:noFill/>
          <a:ln w="9525">
            <a:noFill/>
            <a:miter lim="800000"/>
            <a:headEnd/>
            <a:tailEnd/>
          </a:ln>
        </p:spPr>
      </p:pic>
      <p:pic>
        <p:nvPicPr>
          <p:cNvPr id="5" name="Picture 4" descr="1.png"/>
          <p:cNvPicPr>
            <a:picLocks noChangeAspect="1"/>
          </p:cNvPicPr>
          <p:nvPr/>
        </p:nvPicPr>
        <p:blipFill>
          <a:blip r:embed="rId3"/>
          <a:stretch>
            <a:fillRect/>
          </a:stretch>
        </p:blipFill>
        <p:spPr>
          <a:xfrm>
            <a:off x="11048500" y="12567"/>
            <a:ext cx="3581900" cy="2420667"/>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303614" y="3119479"/>
            <a:ext cx="4341130" cy="5129844"/>
          </a:xfrm>
          <a:custGeom>
            <a:avLst/>
            <a:gdLst/>
            <a:ahLst/>
            <a:cxnLst/>
            <a:rect l="l" t="t" r="r" b="b"/>
            <a:pathLst>
              <a:path w="5426413" h="6412305">
                <a:moveTo>
                  <a:pt x="0" y="0"/>
                </a:moveTo>
                <a:lnTo>
                  <a:pt x="5426413" y="0"/>
                </a:lnTo>
                <a:lnTo>
                  <a:pt x="5426413" y="6412305"/>
                </a:lnTo>
                <a:lnTo>
                  <a:pt x="0" y="6412305"/>
                </a:lnTo>
                <a:lnTo>
                  <a:pt x="0" y="0"/>
                </a:lnTo>
                <a:close/>
              </a:path>
            </a:pathLst>
          </a:custGeom>
          <a:blipFill>
            <a:blip r:embed="rId2"/>
            <a:stretch>
              <a:fillRect/>
            </a:stretch>
          </a:blipFill>
        </p:spPr>
        <p:txBody>
          <a:bodyPr lIns="73152" tIns="36576" rIns="73152" bIns="36576"/>
          <a:lstStyle/>
          <a:p>
            <a:endParaRPr lang="en-IN" dirty="0"/>
          </a:p>
        </p:txBody>
      </p:sp>
      <p:pic>
        <p:nvPicPr>
          <p:cNvPr id="8" name="Picture 7">
            <a:extLst>
              <a:ext uri="{FF2B5EF4-FFF2-40B4-BE49-F238E27FC236}">
                <a16:creationId xmlns:a16="http://schemas.microsoft.com/office/drawing/2014/main" xmlns="" id="{AC6BF05C-5544-E2F9-245D-0A767C8D8E2D}"/>
              </a:ext>
            </a:extLst>
          </p:cNvPr>
          <p:cNvPicPr>
            <a:picLocks noChangeAspect="1"/>
          </p:cNvPicPr>
          <p:nvPr/>
        </p:nvPicPr>
        <p:blipFill>
          <a:blip r:embed="rId3">
            <a:extLst>
              <a:ext uri="{28A0092B-C50C-407E-A947-70E740481C1C}">
                <a14:useLocalDpi xmlns:a14="http://schemas.microsoft.com/office/drawing/2010/main" xmlns="" val="0"/>
              </a:ext>
            </a:extLst>
          </a:blip>
          <a:srcRect l="11801" r="11180"/>
          <a:stretch/>
        </p:blipFill>
        <p:spPr>
          <a:xfrm>
            <a:off x="2011681" y="518160"/>
            <a:ext cx="8679209" cy="7437120"/>
          </a:xfrm>
          <a:prstGeom prst="rect">
            <a:avLst/>
          </a:prstGeom>
        </p:spPr>
      </p:pic>
      <p:pic>
        <p:nvPicPr>
          <p:cNvPr id="9" name="Picture 8" descr="C:\Users\MOHIT\Desktop\logo-icon.png">
            <a:extLst>
              <a:ext uri="{FF2B5EF4-FFF2-40B4-BE49-F238E27FC236}">
                <a16:creationId xmlns:a16="http://schemas.microsoft.com/office/drawing/2014/main" xmlns="" id="{13CD5E34-A9C6-64FC-231E-48F8AD50F0C8}"/>
              </a:ext>
            </a:extLst>
          </p:cNvPr>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 y="0"/>
            <a:ext cx="2011680" cy="1469158"/>
          </a:xfrm>
          <a:prstGeom prst="rect">
            <a:avLst/>
          </a:prstGeom>
          <a:noFill/>
          <a:ln w="9525">
            <a:noFill/>
            <a:miter lim="800000"/>
            <a:headEnd/>
            <a:tailEnd/>
          </a:ln>
        </p:spPr>
      </p:pic>
      <p:pic>
        <p:nvPicPr>
          <p:cNvPr id="10" name="Picture 9">
            <a:extLst>
              <a:ext uri="{FF2B5EF4-FFF2-40B4-BE49-F238E27FC236}">
                <a16:creationId xmlns:a16="http://schemas.microsoft.com/office/drawing/2014/main" xmlns="" id="{D9A2C8F3-B89E-E7C4-51F1-589D7D869437}"/>
              </a:ext>
            </a:extLst>
          </p:cNvPr>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2984480" y="6284"/>
            <a:ext cx="1645920" cy="1462874"/>
          </a:xfrm>
          <a:prstGeom prst="rect">
            <a:avLst/>
          </a:prstGeom>
          <a:ln>
            <a:solidFill>
              <a:schemeClr val="bg1"/>
            </a:solidFill>
          </a:ln>
        </p:spPr>
      </p:pic>
    </p:spTree>
  </p:cSld>
  <p:clrMapOvr>
    <a:masterClrMapping/>
  </p:clrMapOvr>
  <p:transition>
    <p:dissolv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399</Words>
  <Application>Microsoft Office PowerPoint</Application>
  <PresentationFormat>Custom</PresentationFormat>
  <Paragraphs>50</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33</cp:revision>
  <dcterms:created xsi:type="dcterms:W3CDTF">2024-08-23T16:28:56Z</dcterms:created>
  <dcterms:modified xsi:type="dcterms:W3CDTF">2025-02-11T06:47:53Z</dcterms:modified>
</cp:coreProperties>
</file>